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2"/>
    <p:sldId id="257" r:id="rId3"/>
    <p:sldId id="258" r:id="rId4"/>
    <p:sldId id="282" r:id="rId5"/>
    <p:sldId id="283" r:id="rId6"/>
    <p:sldId id="259" r:id="rId7"/>
    <p:sldId id="260" r:id="rId8"/>
    <p:sldId id="268" r:id="rId9"/>
    <p:sldId id="269" r:id="rId10"/>
    <p:sldId id="277" r:id="rId11"/>
    <p:sldId id="271" r:id="rId12"/>
    <p:sldId id="270" r:id="rId13"/>
    <p:sldId id="272" r:id="rId14"/>
    <p:sldId id="273" r:id="rId15"/>
    <p:sldId id="278" r:id="rId16"/>
    <p:sldId id="279" r:id="rId17"/>
    <p:sldId id="280" r:id="rId18"/>
    <p:sldId id="281" r:id="rId19"/>
    <p:sldId id="274" r:id="rId20"/>
    <p:sldId id="275" r:id="rId21"/>
    <p:sldId id="276" r:id="rId22"/>
    <p:sldId id="261" r:id="rId23"/>
    <p:sldId id="267" r:id="rId24"/>
    <p:sldId id="262" r:id="rId25"/>
    <p:sldId id="263" r:id="rId26"/>
    <p:sldId id="26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umaima" initials="O" lastIdx="1" clrIdx="0">
    <p:extLst>
      <p:ext uri="{19B8F6BF-5375-455C-9EA6-DF929625EA0E}">
        <p15:presenceInfo xmlns:p15="http://schemas.microsoft.com/office/powerpoint/2012/main" userId="Oumaim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62" d="100"/>
          <a:sy n="62" d="100"/>
        </p:scale>
        <p:origin x="8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F9CED1-9ACF-4169-A193-8045D4DC826F}" type="datetimeFigureOut">
              <a:rPr lang="fr-FR" smtClean="0"/>
              <a:t>05/01/2026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724035-959C-48D0-BD45-4D6C14F84030}" type="slidenum">
              <a:rPr lang="fr-FR" smtClean="0"/>
              <a:t>‹N°›</a:t>
            </a:fld>
            <a:endParaRPr lang="fr-FR"/>
          </a:p>
        </p:txBody>
      </p:sp>
    </p:spTree>
    <p:extLst>
      <p:ext uri="{BB962C8B-B14F-4D97-AF65-F5344CB8AC3E}">
        <p14:creationId xmlns:p14="http://schemas.microsoft.com/office/powerpoint/2010/main" val="4290230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3724035-959C-48D0-BD45-4D6C14F84030}" type="slidenum">
              <a:rPr lang="fr-FR" smtClean="0"/>
              <a:t>1</a:t>
            </a:fld>
            <a:endParaRPr lang="fr-FR"/>
          </a:p>
        </p:txBody>
      </p:sp>
    </p:spTree>
    <p:extLst>
      <p:ext uri="{BB962C8B-B14F-4D97-AF65-F5344CB8AC3E}">
        <p14:creationId xmlns:p14="http://schemas.microsoft.com/office/powerpoint/2010/main" val="3139154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fr-FR"/>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fr-FR"/>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fr-FR"/>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fr-FR"/>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fr-FR"/>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fr-FR"/>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fr-FR"/>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fr-FR"/>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fr-FR"/>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fr-FR"/>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fr-FR"/>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fr-FR"/>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fr-FR"/>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fr-FR"/>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fr-FR"/>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fr-FR"/>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fr-FR"/>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fr-FR"/>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fr-FR"/>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fr-FR"/>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fr-FR"/>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fr-FR"/>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fr-FR"/>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fr-FR"/>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1/5/2026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6B77CF-BD10-7179-8599-12762631934D}"/>
              </a:ext>
            </a:extLst>
          </p:cNvPr>
          <p:cNvSpPr>
            <a:spLocks noGrp="1"/>
          </p:cNvSpPr>
          <p:nvPr>
            <p:ph type="ctrTitle"/>
          </p:nvPr>
        </p:nvSpPr>
        <p:spPr>
          <a:xfrm>
            <a:off x="2434976" y="1750245"/>
            <a:ext cx="9069636" cy="2564901"/>
          </a:xfrm>
        </p:spPr>
        <p:txBody>
          <a:bodyPr>
            <a:noAutofit/>
          </a:bodyPr>
          <a:lstStyle/>
          <a:p>
            <a:r>
              <a:rPr lang="fr-FR" sz="6000" b="1" dirty="0">
                <a:solidFill>
                  <a:srgbClr val="C00000"/>
                </a:solidFill>
              </a:rPr>
              <a:t>Projet Gestion</a:t>
            </a:r>
            <a:br>
              <a:rPr lang="fr-FR" sz="6000" b="1" dirty="0">
                <a:solidFill>
                  <a:srgbClr val="C00000"/>
                </a:solidFill>
              </a:rPr>
            </a:br>
            <a:r>
              <a:rPr lang="fr-FR" sz="6000" b="1" dirty="0">
                <a:solidFill>
                  <a:srgbClr val="C00000"/>
                </a:solidFill>
              </a:rPr>
              <a:t>Commerciale Mini ERP</a:t>
            </a:r>
          </a:p>
        </p:txBody>
      </p:sp>
      <p:sp>
        <p:nvSpPr>
          <p:cNvPr id="3" name="Sous-titre 2">
            <a:extLst>
              <a:ext uri="{FF2B5EF4-FFF2-40B4-BE49-F238E27FC236}">
                <a16:creationId xmlns:a16="http://schemas.microsoft.com/office/drawing/2014/main" id="{C02EF0F4-E112-5D32-88F2-5EAD3DA04C39}"/>
              </a:ext>
            </a:extLst>
          </p:cNvPr>
          <p:cNvSpPr>
            <a:spLocks noGrp="1"/>
          </p:cNvSpPr>
          <p:nvPr>
            <p:ph type="subTitle" idx="1"/>
          </p:nvPr>
        </p:nvSpPr>
        <p:spPr>
          <a:xfrm>
            <a:off x="2434976" y="4857271"/>
            <a:ext cx="9441951" cy="1541228"/>
          </a:xfrm>
        </p:spPr>
        <p:txBody>
          <a:bodyPr>
            <a:normAutofit/>
          </a:bodyPr>
          <a:lstStyle/>
          <a:p>
            <a:r>
              <a:rPr lang="fr-FR" b="1" dirty="0"/>
              <a:t>Présenté par : </a:t>
            </a:r>
            <a:r>
              <a:rPr lang="fr-FR" dirty="0"/>
              <a:t>Aicha Bocoum				</a:t>
            </a:r>
            <a:r>
              <a:rPr lang="fr-FR" b="1" dirty="0"/>
              <a:t> Encadré par : </a:t>
            </a:r>
            <a:r>
              <a:rPr lang="fr-FR" dirty="0"/>
              <a:t>Mme Houda Mouttalib </a:t>
            </a:r>
          </a:p>
          <a:p>
            <a:r>
              <a:rPr lang="fr-FR" dirty="0"/>
              <a:t> 			   Salma Mabchour</a:t>
            </a:r>
          </a:p>
          <a:p>
            <a:r>
              <a:rPr lang="fr-FR" dirty="0"/>
              <a:t>			   Oumaima El hachami</a:t>
            </a:r>
          </a:p>
        </p:txBody>
      </p:sp>
      <p:pic>
        <p:nvPicPr>
          <p:cNvPr id="4" name="Image 3">
            <a:extLst>
              <a:ext uri="{FF2B5EF4-FFF2-40B4-BE49-F238E27FC236}">
                <a16:creationId xmlns:a16="http://schemas.microsoft.com/office/drawing/2014/main" id="{83E45F85-F652-0DB2-132D-FD7EEAEFED21}"/>
              </a:ext>
            </a:extLst>
          </p:cNvPr>
          <p:cNvPicPr>
            <a:picLocks noChangeAspect="1"/>
          </p:cNvPicPr>
          <p:nvPr/>
        </p:nvPicPr>
        <p:blipFill>
          <a:blip r:embed="rId3"/>
          <a:stretch>
            <a:fillRect/>
          </a:stretch>
        </p:blipFill>
        <p:spPr>
          <a:xfrm>
            <a:off x="1582570" y="459501"/>
            <a:ext cx="2794338" cy="1642367"/>
          </a:xfrm>
          <a:prstGeom prst="rect">
            <a:avLst/>
          </a:prstGeom>
        </p:spPr>
      </p:pic>
      <p:pic>
        <p:nvPicPr>
          <p:cNvPr id="6" name="Image 5">
            <a:extLst>
              <a:ext uri="{FF2B5EF4-FFF2-40B4-BE49-F238E27FC236}">
                <a16:creationId xmlns:a16="http://schemas.microsoft.com/office/drawing/2014/main" id="{2D262B45-6207-D818-C8DE-B1E5C3E950A5}"/>
              </a:ext>
            </a:extLst>
          </p:cNvPr>
          <p:cNvPicPr>
            <a:picLocks noChangeAspect="1"/>
          </p:cNvPicPr>
          <p:nvPr/>
        </p:nvPicPr>
        <p:blipFill>
          <a:blip r:embed="rId4"/>
          <a:stretch>
            <a:fillRect/>
          </a:stretch>
        </p:blipFill>
        <p:spPr>
          <a:xfrm>
            <a:off x="9647434" y="562748"/>
            <a:ext cx="1544975" cy="1290744"/>
          </a:xfrm>
          <a:prstGeom prst="rect">
            <a:avLst/>
          </a:prstGeom>
        </p:spPr>
      </p:pic>
    </p:spTree>
    <p:extLst>
      <p:ext uri="{BB962C8B-B14F-4D97-AF65-F5344CB8AC3E}">
        <p14:creationId xmlns:p14="http://schemas.microsoft.com/office/powerpoint/2010/main" val="100233941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F36498-AB6C-0847-A415-6D61DE389F29}"/>
              </a:ext>
            </a:extLst>
          </p:cNvPr>
          <p:cNvSpPr>
            <a:spLocks noGrp="1"/>
          </p:cNvSpPr>
          <p:nvPr>
            <p:ph type="title"/>
          </p:nvPr>
        </p:nvSpPr>
        <p:spPr>
          <a:xfrm>
            <a:off x="2151135" y="398078"/>
            <a:ext cx="8911687" cy="1280890"/>
          </a:xfrm>
        </p:spPr>
        <p:txBody>
          <a:bodyPr/>
          <a:lstStyle/>
          <a:p>
            <a:r>
              <a:rPr lang="fr-FR" sz="6000" b="1" dirty="0"/>
              <a:t>Plan :</a:t>
            </a:r>
          </a:p>
        </p:txBody>
      </p:sp>
      <p:sp>
        <p:nvSpPr>
          <p:cNvPr id="3" name="Espace réservé du contenu 2">
            <a:extLst>
              <a:ext uri="{FF2B5EF4-FFF2-40B4-BE49-F238E27FC236}">
                <a16:creationId xmlns:a16="http://schemas.microsoft.com/office/drawing/2014/main" id="{166CDCDE-EC12-A9BC-6C72-C39774AD49AA}"/>
              </a:ext>
            </a:extLst>
          </p:cNvPr>
          <p:cNvSpPr>
            <a:spLocks noGrp="1"/>
          </p:cNvSpPr>
          <p:nvPr>
            <p:ph idx="1"/>
          </p:nvPr>
        </p:nvSpPr>
        <p:spPr>
          <a:xfrm>
            <a:off x="2151135" y="1678969"/>
            <a:ext cx="8915400" cy="4780954"/>
          </a:xfrm>
        </p:spPr>
        <p:txBody>
          <a:bodyPr>
            <a:normAutofit/>
          </a:bodyPr>
          <a:lstStyle/>
          <a:p>
            <a:pPr>
              <a:buFont typeface="Wingdings" panose="05000000000000000000" pitchFamily="2" charset="2"/>
              <a:buChar char="§"/>
            </a:pPr>
            <a:r>
              <a:rPr lang="fr-FR" sz="2800" b="1" dirty="0"/>
              <a:t>Introduction </a:t>
            </a:r>
          </a:p>
          <a:p>
            <a:pPr>
              <a:buFont typeface="Wingdings" panose="05000000000000000000" pitchFamily="2" charset="2"/>
              <a:buChar char="§"/>
            </a:pPr>
            <a:r>
              <a:rPr lang="fr-FR" sz="2800" b="1" dirty="0"/>
              <a:t>Problématique</a:t>
            </a:r>
          </a:p>
          <a:p>
            <a:pPr>
              <a:buFont typeface="Wingdings" panose="05000000000000000000" pitchFamily="2" charset="2"/>
              <a:buChar char="§"/>
            </a:pPr>
            <a:r>
              <a:rPr lang="fr-FR" sz="2800" b="1" dirty="0"/>
              <a:t>Objectifs</a:t>
            </a:r>
          </a:p>
          <a:p>
            <a:pPr>
              <a:buFont typeface="Wingdings" panose="05000000000000000000" pitchFamily="2" charset="2"/>
              <a:buChar char="§"/>
            </a:pPr>
            <a:r>
              <a:rPr lang="fr-FR" sz="2800" b="1" dirty="0"/>
              <a:t>Technologies utilisées </a:t>
            </a:r>
          </a:p>
          <a:p>
            <a:pPr>
              <a:buFont typeface="Wingdings" panose="05000000000000000000" pitchFamily="2" charset="2"/>
              <a:buChar char="§"/>
            </a:pPr>
            <a:r>
              <a:rPr lang="fr-FR" sz="2800" b="1" dirty="0"/>
              <a:t>Structure du projet</a:t>
            </a:r>
          </a:p>
          <a:p>
            <a:pPr>
              <a:buFont typeface="Wingdings" panose="05000000000000000000" pitchFamily="2" charset="2"/>
              <a:buChar char="§"/>
            </a:pPr>
            <a:r>
              <a:rPr lang="fr-FR" sz="2800" b="1" dirty="0"/>
              <a:t>Fonctionnalités principales</a:t>
            </a:r>
          </a:p>
          <a:p>
            <a:pPr>
              <a:buFont typeface="Wingdings" panose="05000000000000000000" pitchFamily="2" charset="2"/>
              <a:buChar char="§"/>
            </a:pPr>
            <a:r>
              <a:rPr lang="fr-FR" sz="2800" b="1" dirty="0"/>
              <a:t>Fonctionnement technique</a:t>
            </a:r>
          </a:p>
          <a:p>
            <a:pPr>
              <a:buFont typeface="Wingdings" panose="05000000000000000000" pitchFamily="2" charset="2"/>
              <a:buChar char="§"/>
            </a:pPr>
            <a:r>
              <a:rPr lang="fr-FR" sz="2800" b="1" dirty="0"/>
              <a:t>Conclusion.</a:t>
            </a:r>
            <a:br>
              <a:rPr lang="fr-FR" b="1" dirty="0"/>
            </a:br>
            <a:endParaRPr lang="fr-FR" dirty="0"/>
          </a:p>
        </p:txBody>
      </p:sp>
    </p:spTree>
    <p:extLst>
      <p:ext uri="{BB962C8B-B14F-4D97-AF65-F5344CB8AC3E}">
        <p14:creationId xmlns:p14="http://schemas.microsoft.com/office/powerpoint/2010/main" val="29866644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439EAF-A4D0-06FD-F6DB-682492932EEB}"/>
              </a:ext>
            </a:extLst>
          </p:cNvPr>
          <p:cNvSpPr>
            <a:spLocks noGrp="1"/>
          </p:cNvSpPr>
          <p:nvPr>
            <p:ph type="title"/>
          </p:nvPr>
        </p:nvSpPr>
        <p:spPr>
          <a:xfrm>
            <a:off x="2137025" y="439897"/>
            <a:ext cx="9090185" cy="1280890"/>
          </a:xfrm>
        </p:spPr>
        <p:txBody>
          <a:bodyPr>
            <a:normAutofit/>
          </a:bodyPr>
          <a:lstStyle/>
          <a:p>
            <a:pPr algn="just"/>
            <a:r>
              <a:rPr lang="fr-FR" sz="6000" b="1" dirty="0"/>
              <a:t>Introduction :</a:t>
            </a:r>
          </a:p>
        </p:txBody>
      </p:sp>
      <p:sp>
        <p:nvSpPr>
          <p:cNvPr id="3" name="Espace réservé du contenu 2">
            <a:extLst>
              <a:ext uri="{FF2B5EF4-FFF2-40B4-BE49-F238E27FC236}">
                <a16:creationId xmlns:a16="http://schemas.microsoft.com/office/drawing/2014/main" id="{9A1A5178-551F-AE4A-D749-8936A7512B50}"/>
              </a:ext>
            </a:extLst>
          </p:cNvPr>
          <p:cNvSpPr>
            <a:spLocks noGrp="1"/>
          </p:cNvSpPr>
          <p:nvPr>
            <p:ph idx="1"/>
          </p:nvPr>
        </p:nvSpPr>
        <p:spPr>
          <a:xfrm>
            <a:off x="1931541" y="1982913"/>
            <a:ext cx="9295669" cy="4205712"/>
          </a:xfrm>
        </p:spPr>
        <p:txBody>
          <a:bodyPr>
            <a:normAutofit/>
          </a:bodyPr>
          <a:lstStyle/>
          <a:p>
            <a:r>
              <a:rPr lang="fr-FR" sz="2800" dirty="0"/>
              <a:t> Ce projet Mini-ERP consiste à développer une application web permettant de gérer les produits, les clients, les commandes et les factures. Il a pour objectif de mettre en pratique les bases du développement web en utilisant HTML, CSS, Bootstrap et JavaScript, tout en créant une interface claire et facile à utiliser.</a:t>
            </a:r>
          </a:p>
        </p:txBody>
      </p:sp>
    </p:spTree>
    <p:extLst>
      <p:ext uri="{BB962C8B-B14F-4D97-AF65-F5344CB8AC3E}">
        <p14:creationId xmlns:p14="http://schemas.microsoft.com/office/powerpoint/2010/main" val="22023776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2EDD4A-0C58-C12A-C13F-6A47824033BD}"/>
              </a:ext>
            </a:extLst>
          </p:cNvPr>
          <p:cNvSpPr>
            <a:spLocks noGrp="1"/>
          </p:cNvSpPr>
          <p:nvPr>
            <p:ph type="title"/>
          </p:nvPr>
        </p:nvSpPr>
        <p:spPr>
          <a:xfrm>
            <a:off x="1787703" y="552191"/>
            <a:ext cx="9593619" cy="1040303"/>
          </a:xfrm>
        </p:spPr>
        <p:txBody>
          <a:bodyPr>
            <a:normAutofit fontScale="90000"/>
          </a:bodyPr>
          <a:lstStyle/>
          <a:p>
            <a:r>
              <a:rPr lang="fr-FR" sz="5400" b="1" dirty="0"/>
              <a:t>Problématique :</a:t>
            </a:r>
            <a:br>
              <a:rPr lang="fr-FR" b="1" dirty="0"/>
            </a:br>
            <a:endParaRPr lang="fr-FR" dirty="0"/>
          </a:p>
        </p:txBody>
      </p:sp>
      <p:sp>
        <p:nvSpPr>
          <p:cNvPr id="3" name="Espace réservé du contenu 2">
            <a:extLst>
              <a:ext uri="{FF2B5EF4-FFF2-40B4-BE49-F238E27FC236}">
                <a16:creationId xmlns:a16="http://schemas.microsoft.com/office/drawing/2014/main" id="{457A9119-760F-296D-5499-0CCA3CD1EDA3}"/>
              </a:ext>
            </a:extLst>
          </p:cNvPr>
          <p:cNvSpPr>
            <a:spLocks noGrp="1"/>
          </p:cNvSpPr>
          <p:nvPr>
            <p:ph idx="1"/>
          </p:nvPr>
        </p:nvSpPr>
        <p:spPr>
          <a:xfrm>
            <a:off x="1787703" y="1941816"/>
            <a:ext cx="9716909" cy="4133793"/>
          </a:xfrm>
        </p:spPr>
        <p:txBody>
          <a:bodyPr/>
          <a:lstStyle/>
          <a:p>
            <a:pPr algn="just"/>
            <a:r>
              <a:rPr lang="fr-FR" sz="2800" dirty="0"/>
              <a:t>Dans les petites entreprises, la gestion des produits, des clients et des commandes est souvent compliquée et mal organisée. Cela peut provoquer des erreurs et une perte de temps. Il est donc important d’avoir un outil simple pour mieux gérer ces informations.</a:t>
            </a:r>
          </a:p>
          <a:p>
            <a:pPr marL="0" indent="0" algn="just">
              <a:buNone/>
            </a:pPr>
            <a:endParaRPr lang="fr-FR" dirty="0"/>
          </a:p>
        </p:txBody>
      </p:sp>
    </p:spTree>
    <p:extLst>
      <p:ext uri="{BB962C8B-B14F-4D97-AF65-F5344CB8AC3E}">
        <p14:creationId xmlns:p14="http://schemas.microsoft.com/office/powerpoint/2010/main" val="313315079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BB2A4F-BDEE-FB80-897F-BE2F399C226C}"/>
              </a:ext>
            </a:extLst>
          </p:cNvPr>
          <p:cNvSpPr>
            <a:spLocks noGrp="1"/>
          </p:cNvSpPr>
          <p:nvPr>
            <p:ph type="title"/>
          </p:nvPr>
        </p:nvSpPr>
        <p:spPr>
          <a:xfrm>
            <a:off x="1787703" y="593288"/>
            <a:ext cx="8911687" cy="1009481"/>
          </a:xfrm>
        </p:spPr>
        <p:txBody>
          <a:bodyPr>
            <a:normAutofit fontScale="90000"/>
          </a:bodyPr>
          <a:lstStyle/>
          <a:p>
            <a:r>
              <a:rPr lang="fr-FR" sz="4900" b="1" dirty="0"/>
              <a:t>Objectifs :</a:t>
            </a:r>
            <a:br>
              <a:rPr lang="fr-FR" sz="4900" b="1" dirty="0"/>
            </a:br>
            <a:endParaRPr lang="fr-FR" sz="4900" b="1" dirty="0"/>
          </a:p>
        </p:txBody>
      </p:sp>
      <p:sp>
        <p:nvSpPr>
          <p:cNvPr id="3" name="Espace réservé du contenu 2">
            <a:extLst>
              <a:ext uri="{FF2B5EF4-FFF2-40B4-BE49-F238E27FC236}">
                <a16:creationId xmlns:a16="http://schemas.microsoft.com/office/drawing/2014/main" id="{DD7903CE-FCC1-FD4E-4842-5B66825D62CD}"/>
              </a:ext>
            </a:extLst>
          </p:cNvPr>
          <p:cNvSpPr>
            <a:spLocks noGrp="1"/>
          </p:cNvSpPr>
          <p:nvPr>
            <p:ph idx="1"/>
          </p:nvPr>
        </p:nvSpPr>
        <p:spPr>
          <a:xfrm>
            <a:off x="1787703" y="1921267"/>
            <a:ext cx="9716909" cy="3989955"/>
          </a:xfrm>
        </p:spPr>
        <p:txBody>
          <a:bodyPr/>
          <a:lstStyle/>
          <a:p>
            <a:r>
              <a:rPr lang="fr-FR" sz="2800" dirty="0"/>
              <a:t>Créer une application simple pour gérer les produits, clients et commandes</a:t>
            </a:r>
          </a:p>
          <a:p>
            <a:r>
              <a:rPr lang="fr-FR" sz="2800" dirty="0"/>
              <a:t>Faciliter l’organisation des données</a:t>
            </a:r>
          </a:p>
          <a:p>
            <a:r>
              <a:rPr lang="fr-FR" sz="2800" dirty="0"/>
              <a:t>Gagner du temps et éviter les erreurs</a:t>
            </a:r>
          </a:p>
          <a:p>
            <a:r>
              <a:rPr lang="fr-FR" sz="2800" dirty="0"/>
              <a:t>Appliquer les bases du développement web (HTML, CSS, JavaScript)</a:t>
            </a:r>
          </a:p>
          <a:p>
            <a:endParaRPr lang="fr-FR" dirty="0"/>
          </a:p>
        </p:txBody>
      </p:sp>
    </p:spTree>
    <p:extLst>
      <p:ext uri="{BB962C8B-B14F-4D97-AF65-F5344CB8AC3E}">
        <p14:creationId xmlns:p14="http://schemas.microsoft.com/office/powerpoint/2010/main" val="272830272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D35B23-A0EE-F936-8892-F02C189AECDC}"/>
              </a:ext>
            </a:extLst>
          </p:cNvPr>
          <p:cNvSpPr>
            <a:spLocks noGrp="1"/>
          </p:cNvSpPr>
          <p:nvPr>
            <p:ph type="title"/>
          </p:nvPr>
        </p:nvSpPr>
        <p:spPr>
          <a:xfrm>
            <a:off x="2003460" y="452064"/>
            <a:ext cx="9501151" cy="1263722"/>
          </a:xfrm>
        </p:spPr>
        <p:txBody>
          <a:bodyPr>
            <a:normAutofit fontScale="90000"/>
          </a:bodyPr>
          <a:lstStyle/>
          <a:p>
            <a:r>
              <a:rPr lang="fr-FR" sz="6000" b="1" dirty="0"/>
              <a:t>Technologies utilisées :</a:t>
            </a:r>
            <a:br>
              <a:rPr lang="fr-FR" b="1" dirty="0"/>
            </a:br>
            <a:endParaRPr lang="fr-FR" dirty="0"/>
          </a:p>
        </p:txBody>
      </p:sp>
      <p:sp>
        <p:nvSpPr>
          <p:cNvPr id="3" name="Espace réservé du contenu 2">
            <a:extLst>
              <a:ext uri="{FF2B5EF4-FFF2-40B4-BE49-F238E27FC236}">
                <a16:creationId xmlns:a16="http://schemas.microsoft.com/office/drawing/2014/main" id="{357DB5D0-AA82-0AAC-B5D7-69DC5F2B3C46}"/>
              </a:ext>
            </a:extLst>
          </p:cNvPr>
          <p:cNvSpPr>
            <a:spLocks noGrp="1"/>
          </p:cNvSpPr>
          <p:nvPr>
            <p:ph idx="1"/>
          </p:nvPr>
        </p:nvSpPr>
        <p:spPr>
          <a:xfrm>
            <a:off x="2106201" y="1535792"/>
            <a:ext cx="9398410" cy="4006222"/>
          </a:xfrm>
        </p:spPr>
        <p:txBody>
          <a:bodyPr>
            <a:normAutofit lnSpcReduction="10000"/>
          </a:bodyPr>
          <a:lstStyle/>
          <a:p>
            <a:r>
              <a:rPr lang="fr-FR" sz="2800" b="1" dirty="0"/>
              <a:t>HTML5</a:t>
            </a:r>
            <a:r>
              <a:rPr lang="fr-FR" sz="2800" dirty="0"/>
              <a:t> : structure des pages</a:t>
            </a:r>
          </a:p>
          <a:p>
            <a:r>
              <a:rPr lang="fr-FR" sz="2800" b="1" dirty="0"/>
              <a:t>CSS3</a:t>
            </a:r>
            <a:r>
              <a:rPr lang="fr-FR" sz="2800" dirty="0"/>
              <a:t> : mise en forme et design</a:t>
            </a:r>
          </a:p>
          <a:p>
            <a:r>
              <a:rPr lang="fr-FR" sz="2800" b="1" dirty="0"/>
              <a:t>Bootstrap 5</a:t>
            </a:r>
            <a:r>
              <a:rPr lang="fr-FR" sz="2800" dirty="0"/>
              <a:t> : responsive design et composants UI</a:t>
            </a:r>
          </a:p>
          <a:p>
            <a:r>
              <a:rPr lang="fr-FR" sz="2800" b="1" dirty="0"/>
              <a:t>JavaScript (Vanilla JS)</a:t>
            </a:r>
            <a:r>
              <a:rPr lang="fr-FR" sz="2800" dirty="0"/>
              <a:t> : logique métier</a:t>
            </a:r>
          </a:p>
          <a:p>
            <a:r>
              <a:rPr lang="fr-FR" sz="2800" b="1" dirty="0"/>
              <a:t>JSON</a:t>
            </a:r>
            <a:r>
              <a:rPr lang="fr-FR" sz="2800" dirty="0"/>
              <a:t> : données initiales</a:t>
            </a:r>
          </a:p>
          <a:p>
            <a:r>
              <a:rPr lang="fr-FR" sz="2800" b="1" dirty="0"/>
              <a:t>LocalStorage</a:t>
            </a:r>
            <a:r>
              <a:rPr lang="fr-FR" sz="2800" dirty="0"/>
              <a:t> : stockage persistant côté navigateur</a:t>
            </a:r>
          </a:p>
          <a:p>
            <a:r>
              <a:rPr lang="fr-FR" sz="2800" b="1" dirty="0"/>
              <a:t>VS Code + Go Live</a:t>
            </a:r>
            <a:r>
              <a:rPr lang="fr-FR" sz="2800" dirty="0"/>
              <a:t> : environnement de développement</a:t>
            </a:r>
          </a:p>
          <a:p>
            <a:endParaRPr lang="fr-FR" dirty="0"/>
          </a:p>
        </p:txBody>
      </p:sp>
      <p:pic>
        <p:nvPicPr>
          <p:cNvPr id="1026" name="Picture 2" descr="Jeu d'icônes HTML5 CSS3 JS. Logo de développement Web jeu d'icônes de html,  CSS et javascript, symbole de programmation Image Vectorielle Stock - Alamy">
            <a:extLst>
              <a:ext uri="{FF2B5EF4-FFF2-40B4-BE49-F238E27FC236}">
                <a16:creationId xmlns:a16="http://schemas.microsoft.com/office/drawing/2014/main" id="{FD6C96AF-0C08-B34B-A4DF-0CE06409C3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76" t="17314" r="8485" b="24420"/>
          <a:stretch>
            <a:fillRect/>
          </a:stretch>
        </p:blipFill>
        <p:spPr bwMode="auto">
          <a:xfrm>
            <a:off x="9412839" y="1387125"/>
            <a:ext cx="2568540" cy="10238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ootstrap 5 Logo PNG Vector (SVG) Free Download">
            <a:extLst>
              <a:ext uri="{FF2B5EF4-FFF2-40B4-BE49-F238E27FC236}">
                <a16:creationId xmlns:a16="http://schemas.microsoft.com/office/drawing/2014/main" id="{1E03F935-EE21-4B4C-F3AE-969981C2F0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4750" y="5548727"/>
            <a:ext cx="1299954" cy="107701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teractive LocalStorage Demo + Code">
            <a:extLst>
              <a:ext uri="{FF2B5EF4-FFF2-40B4-BE49-F238E27FC236}">
                <a16:creationId xmlns:a16="http://schemas.microsoft.com/office/drawing/2014/main" id="{9CB2FA23-A718-AEDB-C629-EC882BFC732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719" t="22900" r="15083" b="13818"/>
          <a:stretch>
            <a:fillRect/>
          </a:stretch>
        </p:blipFill>
        <p:spPr bwMode="auto">
          <a:xfrm>
            <a:off x="6637224" y="5255013"/>
            <a:ext cx="1299954" cy="107701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0 VSCode Extensions You Should Know - Swimm">
            <a:extLst>
              <a:ext uri="{FF2B5EF4-FFF2-40B4-BE49-F238E27FC236}">
                <a16:creationId xmlns:a16="http://schemas.microsoft.com/office/drawing/2014/main" id="{3A8C7815-C756-A095-F832-0036BA43D26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278" t="18098" r="7431" b="17579"/>
          <a:stretch>
            <a:fillRect/>
          </a:stretch>
        </p:blipFill>
        <p:spPr bwMode="auto">
          <a:xfrm>
            <a:off x="5061742" y="5644788"/>
            <a:ext cx="1299954" cy="95461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Visual Studio Code logo – History, Meaning &amp; Free Vector Download |  logotyp.us">
            <a:extLst>
              <a:ext uri="{FF2B5EF4-FFF2-40B4-BE49-F238E27FC236}">
                <a16:creationId xmlns:a16="http://schemas.microsoft.com/office/drawing/2014/main" id="{0694F326-A734-E001-6321-76E46BC1433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4750" t="11907" r="24259" b="15227"/>
          <a:stretch>
            <a:fillRect/>
          </a:stretch>
        </p:blipFill>
        <p:spPr bwMode="auto">
          <a:xfrm>
            <a:off x="3742399" y="5855157"/>
            <a:ext cx="1043815" cy="95461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Json file - Free interface icons">
            <a:extLst>
              <a:ext uri="{FF2B5EF4-FFF2-40B4-BE49-F238E27FC236}">
                <a16:creationId xmlns:a16="http://schemas.microsoft.com/office/drawing/2014/main" id="{F90043D1-108F-C204-2F92-DB785CBAA60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7785" r="9544"/>
          <a:stretch>
            <a:fillRect/>
          </a:stretch>
        </p:blipFill>
        <p:spPr bwMode="auto">
          <a:xfrm>
            <a:off x="9897776" y="5793520"/>
            <a:ext cx="1165411" cy="954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83063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EE766C-C827-B527-72BA-4474C0EB0C7F}"/>
              </a:ext>
            </a:extLst>
          </p:cNvPr>
          <p:cNvSpPr>
            <a:spLocks noGrp="1"/>
          </p:cNvSpPr>
          <p:nvPr>
            <p:ph type="title"/>
          </p:nvPr>
        </p:nvSpPr>
        <p:spPr>
          <a:xfrm>
            <a:off x="2161411" y="439176"/>
            <a:ext cx="8911687" cy="1280890"/>
          </a:xfrm>
        </p:spPr>
        <p:txBody>
          <a:bodyPr/>
          <a:lstStyle/>
          <a:p>
            <a:r>
              <a:rPr lang="fr-FR" sz="5400" b="1" dirty="0"/>
              <a:t>Structure du projet :</a:t>
            </a:r>
          </a:p>
        </p:txBody>
      </p:sp>
      <p:pic>
        <p:nvPicPr>
          <p:cNvPr id="5" name="Espace réservé du contenu 4">
            <a:extLst>
              <a:ext uri="{FF2B5EF4-FFF2-40B4-BE49-F238E27FC236}">
                <a16:creationId xmlns:a16="http://schemas.microsoft.com/office/drawing/2014/main" id="{8D998EC2-32EF-9F7A-C0EF-D8A4AE1874A4}"/>
              </a:ext>
            </a:extLst>
          </p:cNvPr>
          <p:cNvPicPr>
            <a:picLocks noGrp="1" noChangeAspect="1"/>
          </p:cNvPicPr>
          <p:nvPr>
            <p:ph idx="1"/>
          </p:nvPr>
        </p:nvPicPr>
        <p:blipFill>
          <a:blip r:embed="rId2"/>
          <a:stretch>
            <a:fillRect/>
          </a:stretch>
        </p:blipFill>
        <p:spPr>
          <a:xfrm>
            <a:off x="2308587" y="1720065"/>
            <a:ext cx="2181220" cy="1280889"/>
          </a:xfrm>
          <a:prstGeom prst="rect">
            <a:avLst/>
          </a:prstGeom>
        </p:spPr>
      </p:pic>
      <p:pic>
        <p:nvPicPr>
          <p:cNvPr id="7" name="Image 6">
            <a:extLst>
              <a:ext uri="{FF2B5EF4-FFF2-40B4-BE49-F238E27FC236}">
                <a16:creationId xmlns:a16="http://schemas.microsoft.com/office/drawing/2014/main" id="{51D6923B-F383-CCDD-A462-2694B53C960B}"/>
              </a:ext>
            </a:extLst>
          </p:cNvPr>
          <p:cNvPicPr>
            <a:picLocks noChangeAspect="1"/>
          </p:cNvPicPr>
          <p:nvPr/>
        </p:nvPicPr>
        <p:blipFill>
          <a:blip r:embed="rId3"/>
          <a:stretch>
            <a:fillRect/>
          </a:stretch>
        </p:blipFill>
        <p:spPr>
          <a:xfrm>
            <a:off x="2308586" y="3296246"/>
            <a:ext cx="2181220" cy="1280888"/>
          </a:xfrm>
          <a:prstGeom prst="rect">
            <a:avLst/>
          </a:prstGeom>
        </p:spPr>
      </p:pic>
      <p:pic>
        <p:nvPicPr>
          <p:cNvPr id="9" name="Image 8">
            <a:extLst>
              <a:ext uri="{FF2B5EF4-FFF2-40B4-BE49-F238E27FC236}">
                <a16:creationId xmlns:a16="http://schemas.microsoft.com/office/drawing/2014/main" id="{396FB9BB-DC78-B7B8-B78D-8ED0F1793286}"/>
              </a:ext>
            </a:extLst>
          </p:cNvPr>
          <p:cNvPicPr>
            <a:picLocks noChangeAspect="1"/>
          </p:cNvPicPr>
          <p:nvPr/>
        </p:nvPicPr>
        <p:blipFill>
          <a:blip r:embed="rId4"/>
          <a:stretch>
            <a:fillRect/>
          </a:stretch>
        </p:blipFill>
        <p:spPr>
          <a:xfrm>
            <a:off x="2308586" y="4829645"/>
            <a:ext cx="2181219" cy="1280888"/>
          </a:xfrm>
          <a:prstGeom prst="rect">
            <a:avLst/>
          </a:prstGeom>
        </p:spPr>
      </p:pic>
      <p:pic>
        <p:nvPicPr>
          <p:cNvPr id="11" name="Image 10">
            <a:extLst>
              <a:ext uri="{FF2B5EF4-FFF2-40B4-BE49-F238E27FC236}">
                <a16:creationId xmlns:a16="http://schemas.microsoft.com/office/drawing/2014/main" id="{40BD9A86-FC2A-703D-3026-F3CF57FFFA0A}"/>
              </a:ext>
            </a:extLst>
          </p:cNvPr>
          <p:cNvPicPr>
            <a:picLocks noChangeAspect="1"/>
          </p:cNvPicPr>
          <p:nvPr/>
        </p:nvPicPr>
        <p:blipFill>
          <a:blip r:embed="rId5"/>
          <a:stretch>
            <a:fillRect/>
          </a:stretch>
        </p:blipFill>
        <p:spPr>
          <a:xfrm>
            <a:off x="5379255" y="1720066"/>
            <a:ext cx="2181219" cy="1280887"/>
          </a:xfrm>
          <a:prstGeom prst="rect">
            <a:avLst/>
          </a:prstGeom>
        </p:spPr>
      </p:pic>
      <p:pic>
        <p:nvPicPr>
          <p:cNvPr id="13" name="Image 12">
            <a:extLst>
              <a:ext uri="{FF2B5EF4-FFF2-40B4-BE49-F238E27FC236}">
                <a16:creationId xmlns:a16="http://schemas.microsoft.com/office/drawing/2014/main" id="{6A33E16B-F3EE-279B-E112-9B895D774DC6}"/>
              </a:ext>
            </a:extLst>
          </p:cNvPr>
          <p:cNvPicPr>
            <a:picLocks noChangeAspect="1"/>
          </p:cNvPicPr>
          <p:nvPr/>
        </p:nvPicPr>
        <p:blipFill>
          <a:blip r:embed="rId6"/>
          <a:stretch>
            <a:fillRect/>
          </a:stretch>
        </p:blipFill>
        <p:spPr>
          <a:xfrm>
            <a:off x="5379255" y="3271791"/>
            <a:ext cx="2181219" cy="1280888"/>
          </a:xfrm>
          <a:prstGeom prst="rect">
            <a:avLst/>
          </a:prstGeom>
        </p:spPr>
      </p:pic>
      <p:pic>
        <p:nvPicPr>
          <p:cNvPr id="15" name="Image 14">
            <a:extLst>
              <a:ext uri="{FF2B5EF4-FFF2-40B4-BE49-F238E27FC236}">
                <a16:creationId xmlns:a16="http://schemas.microsoft.com/office/drawing/2014/main" id="{0DCE0803-817B-5862-0DB6-C83D26DEE4D1}"/>
              </a:ext>
            </a:extLst>
          </p:cNvPr>
          <p:cNvPicPr>
            <a:picLocks noChangeAspect="1"/>
          </p:cNvPicPr>
          <p:nvPr/>
        </p:nvPicPr>
        <p:blipFill>
          <a:blip r:embed="rId7"/>
          <a:stretch>
            <a:fillRect/>
          </a:stretch>
        </p:blipFill>
        <p:spPr>
          <a:xfrm>
            <a:off x="5379256" y="4820160"/>
            <a:ext cx="2181218" cy="1280887"/>
          </a:xfrm>
          <a:prstGeom prst="rect">
            <a:avLst/>
          </a:prstGeom>
        </p:spPr>
      </p:pic>
      <p:pic>
        <p:nvPicPr>
          <p:cNvPr id="17" name="Image 16">
            <a:extLst>
              <a:ext uri="{FF2B5EF4-FFF2-40B4-BE49-F238E27FC236}">
                <a16:creationId xmlns:a16="http://schemas.microsoft.com/office/drawing/2014/main" id="{3DD8A8A1-A09A-7D69-9EE7-6D97A37A931C}"/>
              </a:ext>
            </a:extLst>
          </p:cNvPr>
          <p:cNvPicPr>
            <a:picLocks noChangeAspect="1"/>
          </p:cNvPicPr>
          <p:nvPr/>
        </p:nvPicPr>
        <p:blipFill>
          <a:blip r:embed="rId8"/>
          <a:stretch>
            <a:fillRect/>
          </a:stretch>
        </p:blipFill>
        <p:spPr>
          <a:xfrm>
            <a:off x="8226177" y="1722827"/>
            <a:ext cx="2181218" cy="742577"/>
          </a:xfrm>
          <a:prstGeom prst="rect">
            <a:avLst/>
          </a:prstGeom>
        </p:spPr>
      </p:pic>
      <p:pic>
        <p:nvPicPr>
          <p:cNvPr id="19" name="Image 18">
            <a:extLst>
              <a:ext uri="{FF2B5EF4-FFF2-40B4-BE49-F238E27FC236}">
                <a16:creationId xmlns:a16="http://schemas.microsoft.com/office/drawing/2014/main" id="{438D8A91-141E-A1E4-2978-6B195327BC14}"/>
              </a:ext>
            </a:extLst>
          </p:cNvPr>
          <p:cNvPicPr>
            <a:picLocks noChangeAspect="1"/>
          </p:cNvPicPr>
          <p:nvPr/>
        </p:nvPicPr>
        <p:blipFill>
          <a:blip r:embed="rId9"/>
          <a:stretch>
            <a:fillRect/>
          </a:stretch>
        </p:blipFill>
        <p:spPr>
          <a:xfrm>
            <a:off x="8250150" y="2737580"/>
            <a:ext cx="2181218" cy="1382839"/>
          </a:xfrm>
          <a:prstGeom prst="rect">
            <a:avLst/>
          </a:prstGeom>
        </p:spPr>
      </p:pic>
      <p:pic>
        <p:nvPicPr>
          <p:cNvPr id="21" name="Image 20">
            <a:extLst>
              <a:ext uri="{FF2B5EF4-FFF2-40B4-BE49-F238E27FC236}">
                <a16:creationId xmlns:a16="http://schemas.microsoft.com/office/drawing/2014/main" id="{F0595B7A-D2D3-B6C6-38F0-2493688EB0CC}"/>
              </a:ext>
            </a:extLst>
          </p:cNvPr>
          <p:cNvPicPr>
            <a:picLocks noChangeAspect="1"/>
          </p:cNvPicPr>
          <p:nvPr/>
        </p:nvPicPr>
        <p:blipFill>
          <a:blip r:embed="rId10"/>
          <a:stretch>
            <a:fillRect/>
          </a:stretch>
        </p:blipFill>
        <p:spPr>
          <a:xfrm>
            <a:off x="8238163" y="4445019"/>
            <a:ext cx="2181218" cy="756995"/>
          </a:xfrm>
          <a:prstGeom prst="rect">
            <a:avLst/>
          </a:prstGeom>
        </p:spPr>
      </p:pic>
      <p:pic>
        <p:nvPicPr>
          <p:cNvPr id="23" name="Image 22">
            <a:extLst>
              <a:ext uri="{FF2B5EF4-FFF2-40B4-BE49-F238E27FC236}">
                <a16:creationId xmlns:a16="http://schemas.microsoft.com/office/drawing/2014/main" id="{84064DFD-1EBE-3C91-B273-22EF86279B78}"/>
              </a:ext>
            </a:extLst>
          </p:cNvPr>
          <p:cNvPicPr>
            <a:picLocks noChangeAspect="1"/>
          </p:cNvPicPr>
          <p:nvPr/>
        </p:nvPicPr>
        <p:blipFill>
          <a:blip r:embed="rId11"/>
          <a:stretch>
            <a:fillRect/>
          </a:stretch>
        </p:blipFill>
        <p:spPr>
          <a:xfrm>
            <a:off x="8250150" y="5460604"/>
            <a:ext cx="2157245" cy="643800"/>
          </a:xfrm>
          <a:prstGeom prst="rect">
            <a:avLst/>
          </a:prstGeom>
        </p:spPr>
      </p:pic>
    </p:spTree>
    <p:extLst>
      <p:ext uri="{BB962C8B-B14F-4D97-AF65-F5344CB8AC3E}">
        <p14:creationId xmlns:p14="http://schemas.microsoft.com/office/powerpoint/2010/main" val="148149235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63AD9F-8D4C-6246-BFC4-199EAE39F704}"/>
              </a:ext>
            </a:extLst>
          </p:cNvPr>
          <p:cNvSpPr>
            <a:spLocks noGrp="1"/>
          </p:cNvSpPr>
          <p:nvPr>
            <p:ph type="title"/>
          </p:nvPr>
        </p:nvSpPr>
        <p:spPr>
          <a:xfrm>
            <a:off x="1931543" y="230334"/>
            <a:ext cx="9760448" cy="1674666"/>
          </a:xfrm>
        </p:spPr>
        <p:txBody>
          <a:bodyPr>
            <a:normAutofit fontScale="90000"/>
          </a:bodyPr>
          <a:lstStyle/>
          <a:p>
            <a:r>
              <a:rPr lang="fr-FR" sz="5400" b="1" dirty="0"/>
              <a:t>Pour se connecter a un compte existant:</a:t>
            </a:r>
          </a:p>
        </p:txBody>
      </p:sp>
      <p:pic>
        <p:nvPicPr>
          <p:cNvPr id="5" name="Espace réservé du contenu 4">
            <a:extLst>
              <a:ext uri="{FF2B5EF4-FFF2-40B4-BE49-F238E27FC236}">
                <a16:creationId xmlns:a16="http://schemas.microsoft.com/office/drawing/2014/main" id="{36E06967-DC09-68E6-6371-DEF869D476E6}"/>
              </a:ext>
            </a:extLst>
          </p:cNvPr>
          <p:cNvPicPr>
            <a:picLocks noGrp="1" noChangeAspect="1"/>
          </p:cNvPicPr>
          <p:nvPr>
            <p:ph idx="1"/>
          </p:nvPr>
        </p:nvPicPr>
        <p:blipFill>
          <a:blip r:embed="rId2"/>
          <a:stretch>
            <a:fillRect/>
          </a:stretch>
        </p:blipFill>
        <p:spPr>
          <a:xfrm>
            <a:off x="3657599" y="1695237"/>
            <a:ext cx="5465851" cy="5013788"/>
          </a:xfrm>
          <a:prstGeom prst="rect">
            <a:avLst/>
          </a:prstGeom>
        </p:spPr>
      </p:pic>
    </p:spTree>
    <p:extLst>
      <p:ext uri="{BB962C8B-B14F-4D97-AF65-F5344CB8AC3E}">
        <p14:creationId xmlns:p14="http://schemas.microsoft.com/office/powerpoint/2010/main" val="229593057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2721E8-79CC-1C8D-398F-64A66F388AD5}"/>
              </a:ext>
            </a:extLst>
          </p:cNvPr>
          <p:cNvSpPr>
            <a:spLocks noGrp="1"/>
          </p:cNvSpPr>
          <p:nvPr>
            <p:ph type="title"/>
          </p:nvPr>
        </p:nvSpPr>
        <p:spPr>
          <a:xfrm>
            <a:off x="2188396" y="511094"/>
            <a:ext cx="9254572" cy="1280890"/>
          </a:xfrm>
        </p:spPr>
        <p:txBody>
          <a:bodyPr/>
          <a:lstStyle/>
          <a:p>
            <a:r>
              <a:rPr lang="fr-FR" sz="5400" b="1" dirty="0"/>
              <a:t>Pour créer un compte :</a:t>
            </a:r>
          </a:p>
        </p:txBody>
      </p:sp>
      <p:pic>
        <p:nvPicPr>
          <p:cNvPr id="10" name="Image 9">
            <a:extLst>
              <a:ext uri="{FF2B5EF4-FFF2-40B4-BE49-F238E27FC236}">
                <a16:creationId xmlns:a16="http://schemas.microsoft.com/office/drawing/2014/main" id="{279B05D9-63B1-E749-F149-0AC68B6BFCA5}"/>
              </a:ext>
            </a:extLst>
          </p:cNvPr>
          <p:cNvPicPr>
            <a:picLocks noChangeAspect="1"/>
          </p:cNvPicPr>
          <p:nvPr/>
        </p:nvPicPr>
        <p:blipFill>
          <a:blip r:embed="rId2"/>
          <a:stretch>
            <a:fillRect/>
          </a:stretch>
        </p:blipFill>
        <p:spPr>
          <a:xfrm>
            <a:off x="3821986" y="1675617"/>
            <a:ext cx="4952144" cy="5022360"/>
          </a:xfrm>
          <a:prstGeom prst="rect">
            <a:avLst/>
          </a:prstGeom>
        </p:spPr>
      </p:pic>
    </p:spTree>
    <p:extLst>
      <p:ext uri="{BB962C8B-B14F-4D97-AF65-F5344CB8AC3E}">
        <p14:creationId xmlns:p14="http://schemas.microsoft.com/office/powerpoint/2010/main" val="417339699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355839B2-67E3-301D-9F8E-6C714B0985B8}"/>
              </a:ext>
            </a:extLst>
          </p:cNvPr>
          <p:cNvPicPr>
            <a:picLocks noGrp="1" noChangeAspect="1"/>
          </p:cNvPicPr>
          <p:nvPr>
            <p:ph idx="1"/>
          </p:nvPr>
        </p:nvPicPr>
        <p:blipFill>
          <a:blip r:embed="rId2"/>
          <a:stretch>
            <a:fillRect/>
          </a:stretch>
        </p:blipFill>
        <p:spPr>
          <a:xfrm>
            <a:off x="2044559" y="1239746"/>
            <a:ext cx="9524143" cy="5017214"/>
          </a:xfrm>
          <a:prstGeom prst="rect">
            <a:avLst/>
          </a:prstGeom>
        </p:spPr>
      </p:pic>
    </p:spTree>
    <p:extLst>
      <p:ext uri="{BB962C8B-B14F-4D97-AF65-F5344CB8AC3E}">
        <p14:creationId xmlns:p14="http://schemas.microsoft.com/office/powerpoint/2010/main" val="254184055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723E2F-B544-3816-8AAD-A241B916FC7C}"/>
              </a:ext>
            </a:extLst>
          </p:cNvPr>
          <p:cNvSpPr>
            <a:spLocks noGrp="1"/>
          </p:cNvSpPr>
          <p:nvPr>
            <p:ph type="title"/>
          </p:nvPr>
        </p:nvSpPr>
        <p:spPr>
          <a:xfrm>
            <a:off x="2147299" y="552191"/>
            <a:ext cx="9172378" cy="1280890"/>
          </a:xfrm>
        </p:spPr>
        <p:txBody>
          <a:bodyPr/>
          <a:lstStyle/>
          <a:p>
            <a:r>
              <a:rPr lang="fr-FR" sz="4900" b="1" dirty="0"/>
              <a:t>Nav bar: </a:t>
            </a:r>
          </a:p>
        </p:txBody>
      </p:sp>
      <p:pic>
        <p:nvPicPr>
          <p:cNvPr id="5" name="Espace réservé du contenu 4">
            <a:extLst>
              <a:ext uri="{FF2B5EF4-FFF2-40B4-BE49-F238E27FC236}">
                <a16:creationId xmlns:a16="http://schemas.microsoft.com/office/drawing/2014/main" id="{62E4A275-0975-5628-3168-395A7DD22210}"/>
              </a:ext>
            </a:extLst>
          </p:cNvPr>
          <p:cNvPicPr>
            <a:picLocks noGrp="1" noChangeAspect="1"/>
          </p:cNvPicPr>
          <p:nvPr>
            <p:ph idx="1"/>
          </p:nvPr>
        </p:nvPicPr>
        <p:blipFill>
          <a:blip r:embed="rId2"/>
          <a:stretch>
            <a:fillRect/>
          </a:stretch>
        </p:blipFill>
        <p:spPr>
          <a:xfrm>
            <a:off x="4154184" y="1424683"/>
            <a:ext cx="3883631" cy="5191875"/>
          </a:xfrm>
          <a:prstGeom prst="rect">
            <a:avLst/>
          </a:prstGeom>
        </p:spPr>
      </p:pic>
    </p:spTree>
    <p:extLst>
      <p:ext uri="{BB962C8B-B14F-4D97-AF65-F5344CB8AC3E}">
        <p14:creationId xmlns:p14="http://schemas.microsoft.com/office/powerpoint/2010/main" val="377416257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6508DC-BBF1-DD63-5198-A74C0BEE6A22}"/>
              </a:ext>
            </a:extLst>
          </p:cNvPr>
          <p:cNvSpPr>
            <a:spLocks noGrp="1"/>
          </p:cNvSpPr>
          <p:nvPr>
            <p:ph type="title"/>
          </p:nvPr>
        </p:nvSpPr>
        <p:spPr>
          <a:xfrm>
            <a:off x="1962213" y="541916"/>
            <a:ext cx="8911687" cy="917014"/>
          </a:xfrm>
        </p:spPr>
        <p:txBody>
          <a:bodyPr/>
          <a:lstStyle/>
          <a:p>
            <a:r>
              <a:rPr lang="fr-FR" sz="4900" b="1" dirty="0"/>
              <a:t>Dashboard :</a:t>
            </a:r>
          </a:p>
        </p:txBody>
      </p:sp>
      <p:pic>
        <p:nvPicPr>
          <p:cNvPr id="5" name="Espace réservé du contenu 4">
            <a:extLst>
              <a:ext uri="{FF2B5EF4-FFF2-40B4-BE49-F238E27FC236}">
                <a16:creationId xmlns:a16="http://schemas.microsoft.com/office/drawing/2014/main" id="{7882DF3B-6AB6-2BC9-6B46-A8A29B01CB3A}"/>
              </a:ext>
            </a:extLst>
          </p:cNvPr>
          <p:cNvPicPr>
            <a:picLocks noGrp="1" noChangeAspect="1"/>
          </p:cNvPicPr>
          <p:nvPr>
            <p:ph idx="1"/>
          </p:nvPr>
        </p:nvPicPr>
        <p:blipFill>
          <a:blip r:embed="rId2"/>
          <a:stretch>
            <a:fillRect/>
          </a:stretch>
        </p:blipFill>
        <p:spPr>
          <a:xfrm>
            <a:off x="2674972" y="1380233"/>
            <a:ext cx="7486170" cy="2739703"/>
          </a:xfrm>
          <a:prstGeom prst="rect">
            <a:avLst/>
          </a:prstGeom>
        </p:spPr>
      </p:pic>
      <p:pic>
        <p:nvPicPr>
          <p:cNvPr id="7" name="Image 6">
            <a:extLst>
              <a:ext uri="{FF2B5EF4-FFF2-40B4-BE49-F238E27FC236}">
                <a16:creationId xmlns:a16="http://schemas.microsoft.com/office/drawing/2014/main" id="{EC2D9318-3064-14B9-719E-F557C968459A}"/>
              </a:ext>
            </a:extLst>
          </p:cNvPr>
          <p:cNvPicPr>
            <a:picLocks noChangeAspect="1"/>
          </p:cNvPicPr>
          <p:nvPr/>
        </p:nvPicPr>
        <p:blipFill>
          <a:blip r:embed="rId3"/>
          <a:stretch>
            <a:fillRect/>
          </a:stretch>
        </p:blipFill>
        <p:spPr>
          <a:xfrm>
            <a:off x="2674972" y="4119937"/>
            <a:ext cx="7486170" cy="2458544"/>
          </a:xfrm>
          <a:prstGeom prst="rect">
            <a:avLst/>
          </a:prstGeom>
        </p:spPr>
      </p:pic>
    </p:spTree>
    <p:extLst>
      <p:ext uri="{BB962C8B-B14F-4D97-AF65-F5344CB8AC3E}">
        <p14:creationId xmlns:p14="http://schemas.microsoft.com/office/powerpoint/2010/main" val="68397938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661C27FD-95E3-9C79-C2FF-82B344977D8A}"/>
              </a:ext>
            </a:extLst>
          </p:cNvPr>
          <p:cNvPicPr>
            <a:picLocks noGrp="1" noChangeAspect="1"/>
          </p:cNvPicPr>
          <p:nvPr>
            <p:ph idx="1"/>
          </p:nvPr>
        </p:nvPicPr>
        <p:blipFill>
          <a:blip r:embed="rId2"/>
          <a:stretch>
            <a:fillRect/>
          </a:stretch>
        </p:blipFill>
        <p:spPr>
          <a:xfrm>
            <a:off x="3071250" y="1295400"/>
            <a:ext cx="7129393" cy="2474359"/>
          </a:xfrm>
          <a:prstGeom prst="rect">
            <a:avLst/>
          </a:prstGeom>
        </p:spPr>
      </p:pic>
      <p:pic>
        <p:nvPicPr>
          <p:cNvPr id="7" name="Image 6">
            <a:extLst>
              <a:ext uri="{FF2B5EF4-FFF2-40B4-BE49-F238E27FC236}">
                <a16:creationId xmlns:a16="http://schemas.microsoft.com/office/drawing/2014/main" id="{E5385B49-6EC9-34DE-046A-F72D90CA8266}"/>
              </a:ext>
            </a:extLst>
          </p:cNvPr>
          <p:cNvPicPr>
            <a:picLocks noChangeAspect="1"/>
          </p:cNvPicPr>
          <p:nvPr/>
        </p:nvPicPr>
        <p:blipFill>
          <a:blip r:embed="rId3"/>
          <a:stretch>
            <a:fillRect/>
          </a:stretch>
        </p:blipFill>
        <p:spPr>
          <a:xfrm>
            <a:off x="3071250" y="3769759"/>
            <a:ext cx="7129393" cy="2404153"/>
          </a:xfrm>
          <a:prstGeom prst="rect">
            <a:avLst/>
          </a:prstGeom>
        </p:spPr>
      </p:pic>
    </p:spTree>
    <p:extLst>
      <p:ext uri="{BB962C8B-B14F-4D97-AF65-F5344CB8AC3E}">
        <p14:creationId xmlns:p14="http://schemas.microsoft.com/office/powerpoint/2010/main" val="111595295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784FC9-3B04-C331-9A1B-322B163E87BA}"/>
              </a:ext>
            </a:extLst>
          </p:cNvPr>
          <p:cNvSpPr>
            <a:spLocks noGrp="1"/>
          </p:cNvSpPr>
          <p:nvPr>
            <p:ph type="title"/>
          </p:nvPr>
        </p:nvSpPr>
        <p:spPr>
          <a:xfrm>
            <a:off x="1842912" y="480271"/>
            <a:ext cx="8911687" cy="978659"/>
          </a:xfrm>
        </p:spPr>
        <p:txBody>
          <a:bodyPr/>
          <a:lstStyle/>
          <a:p>
            <a:r>
              <a:rPr lang="fr-FR" sz="4900" b="1" dirty="0"/>
              <a:t>Utilisateurs :</a:t>
            </a:r>
          </a:p>
        </p:txBody>
      </p:sp>
      <p:pic>
        <p:nvPicPr>
          <p:cNvPr id="5" name="Espace réservé du contenu 4">
            <a:extLst>
              <a:ext uri="{FF2B5EF4-FFF2-40B4-BE49-F238E27FC236}">
                <a16:creationId xmlns:a16="http://schemas.microsoft.com/office/drawing/2014/main" id="{F0063F73-8E53-2AF7-2CE8-1DDEB5F6A54E}"/>
              </a:ext>
            </a:extLst>
          </p:cNvPr>
          <p:cNvPicPr>
            <a:picLocks noGrp="1" noChangeAspect="1"/>
          </p:cNvPicPr>
          <p:nvPr>
            <p:ph idx="1"/>
          </p:nvPr>
        </p:nvPicPr>
        <p:blipFill>
          <a:blip r:embed="rId2"/>
          <a:stretch>
            <a:fillRect/>
          </a:stretch>
        </p:blipFill>
        <p:spPr>
          <a:xfrm>
            <a:off x="2180736" y="1458929"/>
            <a:ext cx="8483839" cy="4918799"/>
          </a:xfrm>
          <a:prstGeom prst="rect">
            <a:avLst/>
          </a:prstGeom>
        </p:spPr>
      </p:pic>
    </p:spTree>
    <p:extLst>
      <p:ext uri="{BB962C8B-B14F-4D97-AF65-F5344CB8AC3E}">
        <p14:creationId xmlns:p14="http://schemas.microsoft.com/office/powerpoint/2010/main" val="192651730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B3AF18-C61D-2B0A-FCDA-1582C9FBF346}"/>
              </a:ext>
            </a:extLst>
          </p:cNvPr>
          <p:cNvSpPr>
            <a:spLocks noGrp="1"/>
          </p:cNvSpPr>
          <p:nvPr>
            <p:ph type="title"/>
          </p:nvPr>
        </p:nvSpPr>
        <p:spPr>
          <a:xfrm>
            <a:off x="1884008" y="511094"/>
            <a:ext cx="8911687" cy="1280890"/>
          </a:xfrm>
        </p:spPr>
        <p:txBody>
          <a:bodyPr/>
          <a:lstStyle/>
          <a:p>
            <a:r>
              <a:rPr lang="fr-FR" sz="4900" b="1" dirty="0"/>
              <a:t>Clients :</a:t>
            </a:r>
          </a:p>
        </p:txBody>
      </p:sp>
      <p:pic>
        <p:nvPicPr>
          <p:cNvPr id="5" name="Espace réservé du contenu 4">
            <a:extLst>
              <a:ext uri="{FF2B5EF4-FFF2-40B4-BE49-F238E27FC236}">
                <a16:creationId xmlns:a16="http://schemas.microsoft.com/office/drawing/2014/main" id="{744C684C-EF7B-81F1-28A8-EBD3C9755B7D}"/>
              </a:ext>
            </a:extLst>
          </p:cNvPr>
          <p:cNvPicPr>
            <a:picLocks noGrp="1" noChangeAspect="1"/>
          </p:cNvPicPr>
          <p:nvPr>
            <p:ph idx="1"/>
          </p:nvPr>
        </p:nvPicPr>
        <p:blipFill>
          <a:blip r:embed="rId2"/>
          <a:stretch>
            <a:fillRect/>
          </a:stretch>
        </p:blipFill>
        <p:spPr>
          <a:xfrm>
            <a:off x="2167847" y="1429832"/>
            <a:ext cx="8433846" cy="4482018"/>
          </a:xfrm>
          <a:prstGeom prst="rect">
            <a:avLst/>
          </a:prstGeom>
        </p:spPr>
      </p:pic>
    </p:spTree>
    <p:extLst>
      <p:ext uri="{BB962C8B-B14F-4D97-AF65-F5344CB8AC3E}">
        <p14:creationId xmlns:p14="http://schemas.microsoft.com/office/powerpoint/2010/main" val="83563412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C83F5C-EC92-DFF4-B440-819A192A8423}"/>
              </a:ext>
            </a:extLst>
          </p:cNvPr>
          <p:cNvSpPr>
            <a:spLocks noGrp="1"/>
          </p:cNvSpPr>
          <p:nvPr>
            <p:ph type="title"/>
          </p:nvPr>
        </p:nvSpPr>
        <p:spPr>
          <a:xfrm>
            <a:off x="1982912" y="480272"/>
            <a:ext cx="9203201" cy="1280890"/>
          </a:xfrm>
        </p:spPr>
        <p:txBody>
          <a:bodyPr/>
          <a:lstStyle/>
          <a:p>
            <a:r>
              <a:rPr lang="fr-FR" sz="4900" b="1" dirty="0"/>
              <a:t>Produits :</a:t>
            </a:r>
          </a:p>
        </p:txBody>
      </p:sp>
      <p:pic>
        <p:nvPicPr>
          <p:cNvPr id="5" name="Espace réservé du contenu 4">
            <a:extLst>
              <a:ext uri="{FF2B5EF4-FFF2-40B4-BE49-F238E27FC236}">
                <a16:creationId xmlns:a16="http://schemas.microsoft.com/office/drawing/2014/main" id="{52BCAB8A-8B01-C899-ACFF-F7C841E734AD}"/>
              </a:ext>
            </a:extLst>
          </p:cNvPr>
          <p:cNvPicPr>
            <a:picLocks noGrp="1" noChangeAspect="1"/>
          </p:cNvPicPr>
          <p:nvPr>
            <p:ph idx="1"/>
          </p:nvPr>
        </p:nvPicPr>
        <p:blipFill>
          <a:blip r:embed="rId2"/>
          <a:stretch>
            <a:fillRect/>
          </a:stretch>
        </p:blipFill>
        <p:spPr>
          <a:xfrm>
            <a:off x="2306994" y="1387011"/>
            <a:ext cx="8804394" cy="4787758"/>
          </a:xfrm>
          <a:prstGeom prst="rect">
            <a:avLst/>
          </a:prstGeom>
        </p:spPr>
      </p:pic>
    </p:spTree>
    <p:extLst>
      <p:ext uri="{BB962C8B-B14F-4D97-AF65-F5344CB8AC3E}">
        <p14:creationId xmlns:p14="http://schemas.microsoft.com/office/powerpoint/2010/main" val="275304423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7D82C2-98C9-8F17-701D-68FC43D0E3BC}"/>
              </a:ext>
            </a:extLst>
          </p:cNvPr>
          <p:cNvSpPr>
            <a:spLocks noGrp="1"/>
          </p:cNvSpPr>
          <p:nvPr>
            <p:ph type="title"/>
          </p:nvPr>
        </p:nvSpPr>
        <p:spPr>
          <a:xfrm>
            <a:off x="1914831" y="531643"/>
            <a:ext cx="8911687" cy="1280890"/>
          </a:xfrm>
        </p:spPr>
        <p:txBody>
          <a:bodyPr/>
          <a:lstStyle/>
          <a:p>
            <a:r>
              <a:rPr lang="fr-FR" sz="4900" b="1" dirty="0"/>
              <a:t>Commandes :</a:t>
            </a:r>
          </a:p>
        </p:txBody>
      </p:sp>
      <p:pic>
        <p:nvPicPr>
          <p:cNvPr id="5" name="Espace réservé du contenu 4">
            <a:extLst>
              <a:ext uri="{FF2B5EF4-FFF2-40B4-BE49-F238E27FC236}">
                <a16:creationId xmlns:a16="http://schemas.microsoft.com/office/drawing/2014/main" id="{64BD6F96-B78C-364E-A440-2A80C123B75F}"/>
              </a:ext>
            </a:extLst>
          </p:cNvPr>
          <p:cNvPicPr>
            <a:picLocks noGrp="1" noChangeAspect="1"/>
          </p:cNvPicPr>
          <p:nvPr>
            <p:ph idx="1"/>
          </p:nvPr>
        </p:nvPicPr>
        <p:blipFill>
          <a:blip r:embed="rId2"/>
          <a:stretch>
            <a:fillRect/>
          </a:stretch>
        </p:blipFill>
        <p:spPr>
          <a:xfrm>
            <a:off x="2280862" y="1447926"/>
            <a:ext cx="8545655" cy="4665198"/>
          </a:xfrm>
          <a:prstGeom prst="rect">
            <a:avLst/>
          </a:prstGeom>
        </p:spPr>
      </p:pic>
    </p:spTree>
    <p:extLst>
      <p:ext uri="{BB962C8B-B14F-4D97-AF65-F5344CB8AC3E}">
        <p14:creationId xmlns:p14="http://schemas.microsoft.com/office/powerpoint/2010/main" val="376111470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25C870-2B1F-8110-72D9-D9DB65DC46EC}"/>
              </a:ext>
            </a:extLst>
          </p:cNvPr>
          <p:cNvSpPr>
            <a:spLocks noGrp="1"/>
          </p:cNvSpPr>
          <p:nvPr>
            <p:ph type="title"/>
          </p:nvPr>
        </p:nvSpPr>
        <p:spPr>
          <a:xfrm>
            <a:off x="1966202" y="500820"/>
            <a:ext cx="8911687" cy="1280890"/>
          </a:xfrm>
        </p:spPr>
        <p:txBody>
          <a:bodyPr/>
          <a:lstStyle/>
          <a:p>
            <a:r>
              <a:rPr lang="fr-FR" sz="4900" b="1" dirty="0"/>
              <a:t>Factures :</a:t>
            </a:r>
          </a:p>
        </p:txBody>
      </p:sp>
      <p:pic>
        <p:nvPicPr>
          <p:cNvPr id="5" name="Espace réservé du contenu 4">
            <a:extLst>
              <a:ext uri="{FF2B5EF4-FFF2-40B4-BE49-F238E27FC236}">
                <a16:creationId xmlns:a16="http://schemas.microsoft.com/office/drawing/2014/main" id="{20CE9578-FA76-5564-4A91-3B6372FA2E0E}"/>
              </a:ext>
            </a:extLst>
          </p:cNvPr>
          <p:cNvPicPr>
            <a:picLocks noGrp="1" noChangeAspect="1"/>
          </p:cNvPicPr>
          <p:nvPr>
            <p:ph idx="1"/>
          </p:nvPr>
        </p:nvPicPr>
        <p:blipFill>
          <a:blip r:embed="rId2"/>
          <a:stretch>
            <a:fillRect/>
          </a:stretch>
        </p:blipFill>
        <p:spPr>
          <a:xfrm>
            <a:off x="2311685" y="1407560"/>
            <a:ext cx="8506297" cy="4664467"/>
          </a:xfrm>
          <a:prstGeom prst="rect">
            <a:avLst/>
          </a:prstGeom>
        </p:spPr>
      </p:pic>
    </p:spTree>
    <p:extLst>
      <p:ext uri="{BB962C8B-B14F-4D97-AF65-F5344CB8AC3E}">
        <p14:creationId xmlns:p14="http://schemas.microsoft.com/office/powerpoint/2010/main" val="428579215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C71DF9-41E3-F1A9-EBEF-4B2A2CBE6E18}"/>
              </a:ext>
            </a:extLst>
          </p:cNvPr>
          <p:cNvSpPr>
            <a:spLocks noGrp="1"/>
          </p:cNvSpPr>
          <p:nvPr>
            <p:ph type="title"/>
          </p:nvPr>
        </p:nvSpPr>
        <p:spPr>
          <a:xfrm>
            <a:off x="1952090" y="527290"/>
            <a:ext cx="9531974" cy="1000211"/>
          </a:xfrm>
        </p:spPr>
        <p:txBody>
          <a:bodyPr/>
          <a:lstStyle/>
          <a:p>
            <a:r>
              <a:rPr lang="fr-FR" sz="4900" b="1" dirty="0"/>
              <a:t>Pour ajouter :</a:t>
            </a:r>
          </a:p>
        </p:txBody>
      </p:sp>
      <p:pic>
        <p:nvPicPr>
          <p:cNvPr id="5" name="Espace réservé du contenu 4">
            <a:extLst>
              <a:ext uri="{FF2B5EF4-FFF2-40B4-BE49-F238E27FC236}">
                <a16:creationId xmlns:a16="http://schemas.microsoft.com/office/drawing/2014/main" id="{BC95992A-E350-A203-992F-AD387B29E4A5}"/>
              </a:ext>
            </a:extLst>
          </p:cNvPr>
          <p:cNvPicPr>
            <a:picLocks noGrp="1" noChangeAspect="1"/>
          </p:cNvPicPr>
          <p:nvPr>
            <p:ph idx="1"/>
          </p:nvPr>
        </p:nvPicPr>
        <p:blipFill>
          <a:blip r:embed="rId2"/>
          <a:stretch>
            <a:fillRect/>
          </a:stretch>
        </p:blipFill>
        <p:spPr>
          <a:xfrm>
            <a:off x="5659013" y="2552460"/>
            <a:ext cx="4573972" cy="3778250"/>
          </a:xfrm>
          <a:prstGeom prst="rect">
            <a:avLst/>
          </a:prstGeom>
        </p:spPr>
      </p:pic>
      <p:pic>
        <p:nvPicPr>
          <p:cNvPr id="7" name="Image 6">
            <a:extLst>
              <a:ext uri="{FF2B5EF4-FFF2-40B4-BE49-F238E27FC236}">
                <a16:creationId xmlns:a16="http://schemas.microsoft.com/office/drawing/2014/main" id="{F57B22CF-DFFC-DE2E-F39D-9D76649BAE53}"/>
              </a:ext>
            </a:extLst>
          </p:cNvPr>
          <p:cNvPicPr>
            <a:picLocks noChangeAspect="1"/>
          </p:cNvPicPr>
          <p:nvPr/>
        </p:nvPicPr>
        <p:blipFill>
          <a:blip r:embed="rId3"/>
          <a:srcRect l="4093" t="10496" r="8196" b="12464"/>
          <a:stretch>
            <a:fillRect/>
          </a:stretch>
        </p:blipFill>
        <p:spPr>
          <a:xfrm>
            <a:off x="2650733" y="2003461"/>
            <a:ext cx="1458930" cy="770562"/>
          </a:xfrm>
          <a:prstGeom prst="rect">
            <a:avLst/>
          </a:prstGeom>
        </p:spPr>
      </p:pic>
      <p:cxnSp>
        <p:nvCxnSpPr>
          <p:cNvPr id="18" name="Connecteur : en angle 17">
            <a:extLst>
              <a:ext uri="{FF2B5EF4-FFF2-40B4-BE49-F238E27FC236}">
                <a16:creationId xmlns:a16="http://schemas.microsoft.com/office/drawing/2014/main" id="{BD50AF32-C42E-1C71-4C09-554BADD79343}"/>
              </a:ext>
            </a:extLst>
          </p:cNvPr>
          <p:cNvCxnSpPr>
            <a:cxnSpLocks/>
            <a:stCxn id="7" idx="3"/>
          </p:cNvCxnSpPr>
          <p:nvPr/>
        </p:nvCxnSpPr>
        <p:spPr>
          <a:xfrm>
            <a:off x="4109663" y="2388742"/>
            <a:ext cx="1438381" cy="1040258"/>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0405163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BA8B6D-29C9-D43D-EF84-A2407B26F6F6}"/>
              </a:ext>
            </a:extLst>
          </p:cNvPr>
          <p:cNvSpPr>
            <a:spLocks noGrp="1"/>
          </p:cNvSpPr>
          <p:nvPr>
            <p:ph type="title"/>
          </p:nvPr>
        </p:nvSpPr>
        <p:spPr>
          <a:xfrm>
            <a:off x="1808253" y="554804"/>
            <a:ext cx="9696360" cy="793243"/>
          </a:xfrm>
        </p:spPr>
        <p:txBody>
          <a:bodyPr>
            <a:normAutofit fontScale="90000"/>
          </a:bodyPr>
          <a:lstStyle/>
          <a:p>
            <a:r>
              <a:rPr lang="fr-FR" sz="4900" b="1" dirty="0"/>
              <a:t>Aux cliques :</a:t>
            </a:r>
          </a:p>
        </p:txBody>
      </p:sp>
      <p:pic>
        <p:nvPicPr>
          <p:cNvPr id="5" name="Espace réservé du contenu 4">
            <a:extLst>
              <a:ext uri="{FF2B5EF4-FFF2-40B4-BE49-F238E27FC236}">
                <a16:creationId xmlns:a16="http://schemas.microsoft.com/office/drawing/2014/main" id="{19FB46C4-8528-76BB-2829-CDC0051D17CB}"/>
              </a:ext>
            </a:extLst>
          </p:cNvPr>
          <p:cNvPicPr>
            <a:picLocks noGrp="1" noChangeAspect="1"/>
          </p:cNvPicPr>
          <p:nvPr>
            <p:ph idx="1"/>
          </p:nvPr>
        </p:nvPicPr>
        <p:blipFill>
          <a:blip r:embed="rId2"/>
          <a:stretch>
            <a:fillRect/>
          </a:stretch>
        </p:blipFill>
        <p:spPr>
          <a:xfrm>
            <a:off x="1291368" y="2611127"/>
            <a:ext cx="4123606" cy="2746845"/>
          </a:xfrm>
          <a:prstGeom prst="rect">
            <a:avLst/>
          </a:prstGeom>
        </p:spPr>
      </p:pic>
      <p:pic>
        <p:nvPicPr>
          <p:cNvPr id="7" name="Image 6">
            <a:extLst>
              <a:ext uri="{FF2B5EF4-FFF2-40B4-BE49-F238E27FC236}">
                <a16:creationId xmlns:a16="http://schemas.microsoft.com/office/drawing/2014/main" id="{9B69A6FD-E287-0F76-6D84-D4FB6C59F392}"/>
              </a:ext>
            </a:extLst>
          </p:cNvPr>
          <p:cNvPicPr>
            <a:picLocks noChangeAspect="1"/>
          </p:cNvPicPr>
          <p:nvPr/>
        </p:nvPicPr>
        <p:blipFill>
          <a:blip r:embed="rId3"/>
          <a:stretch>
            <a:fillRect/>
          </a:stretch>
        </p:blipFill>
        <p:spPr>
          <a:xfrm>
            <a:off x="3770614" y="1396527"/>
            <a:ext cx="5959011" cy="1103832"/>
          </a:xfrm>
          <a:prstGeom prst="rect">
            <a:avLst/>
          </a:prstGeom>
        </p:spPr>
      </p:pic>
      <p:pic>
        <p:nvPicPr>
          <p:cNvPr id="9" name="Image 8">
            <a:extLst>
              <a:ext uri="{FF2B5EF4-FFF2-40B4-BE49-F238E27FC236}">
                <a16:creationId xmlns:a16="http://schemas.microsoft.com/office/drawing/2014/main" id="{07788399-B94D-99E1-8FBE-8F671B273D23}"/>
              </a:ext>
            </a:extLst>
          </p:cNvPr>
          <p:cNvPicPr>
            <a:picLocks noChangeAspect="1"/>
          </p:cNvPicPr>
          <p:nvPr/>
        </p:nvPicPr>
        <p:blipFill>
          <a:blip r:embed="rId4"/>
          <a:srcRect l="1443" t="4392" r="1662" b="4392"/>
          <a:stretch>
            <a:fillRect/>
          </a:stretch>
        </p:blipFill>
        <p:spPr>
          <a:xfrm>
            <a:off x="7844317" y="2556871"/>
            <a:ext cx="3770615" cy="2746846"/>
          </a:xfrm>
          <a:prstGeom prst="rect">
            <a:avLst/>
          </a:prstGeom>
        </p:spPr>
      </p:pic>
      <p:pic>
        <p:nvPicPr>
          <p:cNvPr id="11" name="Image 10">
            <a:extLst>
              <a:ext uri="{FF2B5EF4-FFF2-40B4-BE49-F238E27FC236}">
                <a16:creationId xmlns:a16="http://schemas.microsoft.com/office/drawing/2014/main" id="{C436808F-49C2-6FD2-5DC7-58B186E6B084}"/>
              </a:ext>
            </a:extLst>
          </p:cNvPr>
          <p:cNvPicPr>
            <a:picLocks noChangeAspect="1"/>
          </p:cNvPicPr>
          <p:nvPr/>
        </p:nvPicPr>
        <p:blipFill>
          <a:blip r:embed="rId5"/>
          <a:srcRect l="2487" r="3327"/>
          <a:stretch>
            <a:fillRect/>
          </a:stretch>
        </p:blipFill>
        <p:spPr>
          <a:xfrm>
            <a:off x="4149047" y="5414484"/>
            <a:ext cx="4222678" cy="1273995"/>
          </a:xfrm>
          <a:prstGeom prst="rect">
            <a:avLst/>
          </a:prstGeom>
        </p:spPr>
      </p:pic>
      <p:cxnSp>
        <p:nvCxnSpPr>
          <p:cNvPr id="13" name="Connecteur : en arc 12">
            <a:extLst>
              <a:ext uri="{FF2B5EF4-FFF2-40B4-BE49-F238E27FC236}">
                <a16:creationId xmlns:a16="http://schemas.microsoft.com/office/drawing/2014/main" id="{CC313A8A-961E-20C6-B617-EC5ED6D09EBE}"/>
              </a:ext>
            </a:extLst>
          </p:cNvPr>
          <p:cNvCxnSpPr>
            <a:stCxn id="7" idx="1"/>
            <a:endCxn id="5" idx="0"/>
          </p:cNvCxnSpPr>
          <p:nvPr/>
        </p:nvCxnSpPr>
        <p:spPr>
          <a:xfrm rot="10800000" flipV="1">
            <a:off x="3353172" y="1948443"/>
            <a:ext cx="417443" cy="66268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 en arc 14">
            <a:extLst>
              <a:ext uri="{FF2B5EF4-FFF2-40B4-BE49-F238E27FC236}">
                <a16:creationId xmlns:a16="http://schemas.microsoft.com/office/drawing/2014/main" id="{C785880B-4E49-6CC1-6575-EA13D2647F16}"/>
              </a:ext>
            </a:extLst>
          </p:cNvPr>
          <p:cNvCxnSpPr>
            <a:cxnSpLocks/>
          </p:cNvCxnSpPr>
          <p:nvPr/>
        </p:nvCxnSpPr>
        <p:spPr>
          <a:xfrm>
            <a:off x="6777027" y="2153927"/>
            <a:ext cx="914400" cy="9144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18013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E35F7F-6759-62CE-31F2-BC98A3A2A9B8}"/>
              </a:ext>
            </a:extLst>
          </p:cNvPr>
          <p:cNvSpPr>
            <a:spLocks noGrp="1"/>
          </p:cNvSpPr>
          <p:nvPr>
            <p:ph type="title"/>
          </p:nvPr>
        </p:nvSpPr>
        <p:spPr>
          <a:xfrm>
            <a:off x="1808252" y="613836"/>
            <a:ext cx="9614167" cy="875917"/>
          </a:xfrm>
        </p:spPr>
        <p:txBody>
          <a:bodyPr/>
          <a:lstStyle/>
          <a:p>
            <a:r>
              <a:rPr lang="fr-FR" sz="4400" b="1" dirty="0"/>
              <a:t>Pour se déconnecter :</a:t>
            </a:r>
          </a:p>
        </p:txBody>
      </p:sp>
      <p:pic>
        <p:nvPicPr>
          <p:cNvPr id="5" name="Espace réservé du contenu 4">
            <a:extLst>
              <a:ext uri="{FF2B5EF4-FFF2-40B4-BE49-F238E27FC236}">
                <a16:creationId xmlns:a16="http://schemas.microsoft.com/office/drawing/2014/main" id="{1D7F203C-7BE8-6820-AA2B-DFAF78DD2B3C}"/>
              </a:ext>
            </a:extLst>
          </p:cNvPr>
          <p:cNvPicPr>
            <a:picLocks noGrp="1" noChangeAspect="1"/>
          </p:cNvPicPr>
          <p:nvPr>
            <p:ph idx="1"/>
          </p:nvPr>
        </p:nvPicPr>
        <p:blipFill>
          <a:blip r:embed="rId2"/>
          <a:srcRect r="20199"/>
          <a:stretch>
            <a:fillRect/>
          </a:stretch>
        </p:blipFill>
        <p:spPr>
          <a:xfrm>
            <a:off x="4857963" y="2579543"/>
            <a:ext cx="2476073" cy="1499297"/>
          </a:xfrm>
          <a:prstGeom prst="rect">
            <a:avLst/>
          </a:prstGeom>
        </p:spPr>
      </p:pic>
    </p:spTree>
    <p:extLst>
      <p:ext uri="{BB962C8B-B14F-4D97-AF65-F5344CB8AC3E}">
        <p14:creationId xmlns:p14="http://schemas.microsoft.com/office/powerpoint/2010/main" val="369607727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0CB1BA-42ED-111E-19CD-410704CA3145}"/>
              </a:ext>
            </a:extLst>
          </p:cNvPr>
          <p:cNvSpPr>
            <a:spLocks noGrp="1"/>
          </p:cNvSpPr>
          <p:nvPr>
            <p:ph type="title"/>
          </p:nvPr>
        </p:nvSpPr>
        <p:spPr>
          <a:xfrm>
            <a:off x="1945653" y="469998"/>
            <a:ext cx="8911687" cy="1280890"/>
          </a:xfrm>
        </p:spPr>
        <p:txBody>
          <a:bodyPr>
            <a:normAutofit fontScale="90000"/>
          </a:bodyPr>
          <a:lstStyle/>
          <a:p>
            <a:r>
              <a:rPr lang="fr-FR" sz="5400" b="1" dirty="0"/>
              <a:t>Fonctionnalités principales :</a:t>
            </a:r>
          </a:p>
        </p:txBody>
      </p:sp>
      <p:sp>
        <p:nvSpPr>
          <p:cNvPr id="3" name="Espace réservé du contenu 2">
            <a:extLst>
              <a:ext uri="{FF2B5EF4-FFF2-40B4-BE49-F238E27FC236}">
                <a16:creationId xmlns:a16="http://schemas.microsoft.com/office/drawing/2014/main" id="{F5887C74-DFEB-C099-62F4-CE7EDB29A51B}"/>
              </a:ext>
            </a:extLst>
          </p:cNvPr>
          <p:cNvSpPr>
            <a:spLocks noGrp="1"/>
          </p:cNvSpPr>
          <p:nvPr>
            <p:ph idx="1"/>
          </p:nvPr>
        </p:nvSpPr>
        <p:spPr>
          <a:xfrm>
            <a:off x="1859622" y="1750888"/>
            <a:ext cx="9483048" cy="4637114"/>
          </a:xfrm>
        </p:spPr>
        <p:txBody>
          <a:bodyPr numCol="2">
            <a:normAutofit/>
          </a:bodyPr>
          <a:lstStyle/>
          <a:p>
            <a:pPr>
              <a:buFont typeface="Wingdings" panose="05000000000000000000" pitchFamily="2" charset="2"/>
              <a:buChar char="Ø"/>
            </a:pPr>
            <a:r>
              <a:rPr lang="fr-FR" b="1" dirty="0"/>
              <a:t>Gestion des produits</a:t>
            </a:r>
          </a:p>
          <a:p>
            <a:pPr lvl="1">
              <a:buFont typeface="Wingdings" panose="05000000000000000000" pitchFamily="2" charset="2"/>
              <a:buChar char="§"/>
            </a:pPr>
            <a:r>
              <a:rPr lang="fr-FR" dirty="0"/>
              <a:t>Ajouter un produit</a:t>
            </a:r>
          </a:p>
          <a:p>
            <a:pPr lvl="1">
              <a:buFont typeface="Wingdings" panose="05000000000000000000" pitchFamily="2" charset="2"/>
              <a:buChar char="§"/>
            </a:pPr>
            <a:r>
              <a:rPr lang="fr-FR" dirty="0"/>
              <a:t>Modifier un produit</a:t>
            </a:r>
          </a:p>
          <a:p>
            <a:pPr lvl="1">
              <a:buFont typeface="Wingdings" panose="05000000000000000000" pitchFamily="2" charset="2"/>
              <a:buChar char="§"/>
            </a:pPr>
            <a:r>
              <a:rPr lang="fr-FR" dirty="0"/>
              <a:t>Supprimer un produit</a:t>
            </a:r>
          </a:p>
          <a:p>
            <a:pPr lvl="1">
              <a:buFont typeface="Wingdings" panose="05000000000000000000" pitchFamily="2" charset="2"/>
              <a:buChar char="§"/>
            </a:pPr>
            <a:r>
              <a:rPr lang="fr-FR" dirty="0"/>
              <a:t>Voir les détails d’un produit</a:t>
            </a:r>
          </a:p>
          <a:p>
            <a:pPr lvl="1">
              <a:buFont typeface="Wingdings" panose="05000000000000000000" pitchFamily="2" charset="2"/>
              <a:buChar char="§"/>
            </a:pPr>
            <a:r>
              <a:rPr lang="fr-FR" dirty="0"/>
              <a:t>Stockage automatique dans le navigateur</a:t>
            </a:r>
          </a:p>
          <a:p>
            <a:pPr>
              <a:buFont typeface="Wingdings" panose="05000000000000000000" pitchFamily="2" charset="2"/>
              <a:buChar char="Ø"/>
            </a:pPr>
            <a:r>
              <a:rPr lang="fr-FR" b="1" dirty="0"/>
              <a:t>Gestion des commandes</a:t>
            </a:r>
          </a:p>
          <a:p>
            <a:pPr lvl="1">
              <a:buFont typeface="Wingdings" panose="05000000000000000000" pitchFamily="2" charset="2"/>
              <a:buChar char="§"/>
            </a:pPr>
            <a:r>
              <a:rPr lang="fr-FR" dirty="0"/>
              <a:t>Créer une commande</a:t>
            </a:r>
          </a:p>
          <a:p>
            <a:pPr lvl="1">
              <a:buFont typeface="Wingdings" panose="05000000000000000000" pitchFamily="2" charset="2"/>
              <a:buChar char="§"/>
            </a:pPr>
            <a:r>
              <a:rPr lang="fr-FR" dirty="0"/>
              <a:t>Associer des produits</a:t>
            </a:r>
          </a:p>
          <a:p>
            <a:pPr lvl="1">
              <a:buFont typeface="Wingdings" panose="05000000000000000000" pitchFamily="2" charset="2"/>
              <a:buChar char="§"/>
            </a:pPr>
            <a:r>
              <a:rPr lang="fr-FR" dirty="0"/>
              <a:t>Calcul automatique du total</a:t>
            </a:r>
          </a:p>
          <a:p>
            <a:pPr lvl="1">
              <a:buFont typeface="Wingdings" panose="05000000000000000000" pitchFamily="2" charset="2"/>
              <a:buChar char="§"/>
            </a:pPr>
            <a:r>
              <a:rPr lang="fr-FR" dirty="0"/>
              <a:t>Gestion du statut (en attente, validée, livrée)</a:t>
            </a:r>
          </a:p>
          <a:p>
            <a:pPr>
              <a:buFont typeface="Wingdings" panose="05000000000000000000" pitchFamily="2" charset="2"/>
              <a:buChar char="Ø"/>
            </a:pPr>
            <a:r>
              <a:rPr lang="fr-FR" b="1" dirty="0"/>
              <a:t>Gestion des clients</a:t>
            </a:r>
          </a:p>
          <a:p>
            <a:pPr lvl="1">
              <a:buFont typeface="Wingdings" panose="05000000000000000000" pitchFamily="2" charset="2"/>
              <a:buChar char="§"/>
            </a:pPr>
            <a:r>
              <a:rPr lang="fr-FR" dirty="0"/>
              <a:t>Ajouter et modifier des clients</a:t>
            </a:r>
          </a:p>
          <a:p>
            <a:pPr lvl="1">
              <a:buFont typeface="Wingdings" panose="05000000000000000000" pitchFamily="2" charset="2"/>
              <a:buChar char="§"/>
            </a:pPr>
            <a:r>
              <a:rPr lang="fr-FR" dirty="0"/>
              <a:t>Associer les clients aux commandes</a:t>
            </a:r>
          </a:p>
          <a:p>
            <a:pPr>
              <a:buFont typeface="Wingdings" panose="05000000000000000000" pitchFamily="2" charset="2"/>
              <a:buChar char="Ø"/>
            </a:pPr>
            <a:r>
              <a:rPr lang="fr-FR" b="1" dirty="0"/>
              <a:t> Gestion des factures</a:t>
            </a:r>
          </a:p>
          <a:p>
            <a:pPr lvl="1">
              <a:buFont typeface="Wingdings" panose="05000000000000000000" pitchFamily="2" charset="2"/>
              <a:buChar char="§"/>
            </a:pPr>
            <a:r>
              <a:rPr lang="fr-FR" dirty="0"/>
              <a:t>Génération de factures</a:t>
            </a:r>
          </a:p>
          <a:p>
            <a:pPr lvl="1">
              <a:buFont typeface="Wingdings" panose="05000000000000000000" pitchFamily="2" charset="2"/>
              <a:buChar char="§"/>
            </a:pPr>
            <a:r>
              <a:rPr lang="fr-FR" dirty="0"/>
              <a:t>Liaison commande → facture</a:t>
            </a:r>
          </a:p>
          <a:p>
            <a:pPr lvl="1">
              <a:buFont typeface="Wingdings" panose="05000000000000000000" pitchFamily="2" charset="2"/>
              <a:buChar char="§"/>
            </a:pPr>
            <a:r>
              <a:rPr lang="fr-FR" dirty="0"/>
              <a:t>Export possible (PDF – extension future)</a:t>
            </a:r>
          </a:p>
          <a:p>
            <a:pPr>
              <a:buFont typeface="Wingdings" panose="05000000000000000000" pitchFamily="2" charset="2"/>
              <a:buChar char="§"/>
            </a:pPr>
            <a:endParaRPr lang="fr-FR" dirty="0"/>
          </a:p>
        </p:txBody>
      </p:sp>
    </p:spTree>
    <p:extLst>
      <p:ext uri="{BB962C8B-B14F-4D97-AF65-F5344CB8AC3E}">
        <p14:creationId xmlns:p14="http://schemas.microsoft.com/office/powerpoint/2010/main" val="391886528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183C66-9094-EB97-C7FF-E699F6E1F1E2}"/>
              </a:ext>
            </a:extLst>
          </p:cNvPr>
          <p:cNvSpPr>
            <a:spLocks noGrp="1"/>
          </p:cNvSpPr>
          <p:nvPr>
            <p:ph type="title"/>
          </p:nvPr>
        </p:nvSpPr>
        <p:spPr>
          <a:xfrm>
            <a:off x="2095928" y="511631"/>
            <a:ext cx="9244297" cy="1280890"/>
          </a:xfrm>
        </p:spPr>
        <p:txBody>
          <a:bodyPr/>
          <a:lstStyle/>
          <a:p>
            <a:r>
              <a:rPr lang="fr-FR" sz="4900" b="1" dirty="0"/>
              <a:t>Fonctionnement technique :</a:t>
            </a:r>
          </a:p>
        </p:txBody>
      </p:sp>
      <p:sp>
        <p:nvSpPr>
          <p:cNvPr id="6" name="Rectangle 3">
            <a:extLst>
              <a:ext uri="{FF2B5EF4-FFF2-40B4-BE49-F238E27FC236}">
                <a16:creationId xmlns:a16="http://schemas.microsoft.com/office/drawing/2014/main" id="{95BBA0ED-99C1-D50B-48F5-697CB58EC94B}"/>
              </a:ext>
            </a:extLst>
          </p:cNvPr>
          <p:cNvSpPr>
            <a:spLocks noGrp="1" noChangeArrowheads="1"/>
          </p:cNvSpPr>
          <p:nvPr>
            <p:ph idx="1"/>
          </p:nvPr>
        </p:nvSpPr>
        <p:spPr bwMode="auto">
          <a:xfrm>
            <a:off x="2095928" y="1946850"/>
            <a:ext cx="9758005" cy="386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r>
              <a:rPr lang="fr-FR" altLang="fr-FR" sz="2800" dirty="0"/>
              <a:t>Les données sont d’abord chargées depuis un fichier JSON</a:t>
            </a:r>
          </a:p>
          <a:p>
            <a:pPr fontAlgn="base"/>
            <a:r>
              <a:rPr lang="fr-FR" altLang="fr-FR" sz="2800" dirty="0"/>
              <a:t>Elles sont stockées dans le localStorage</a:t>
            </a:r>
          </a:p>
          <a:p>
            <a:pPr fontAlgn="base"/>
            <a:r>
              <a:rPr lang="fr-FR" altLang="fr-FR" sz="2800" dirty="0"/>
              <a:t>Chaque page lit et met à jour les données en JavaScript</a:t>
            </a:r>
          </a:p>
          <a:p>
            <a:pPr fontAlgn="base"/>
            <a:r>
              <a:rPr lang="fr-FR" altLang="fr-FR" sz="2800" dirty="0"/>
              <a:t>La navigation entre pages se fait via des paramètres stockés localement</a:t>
            </a:r>
            <a:endParaRPr kumimoji="0" lang="fr-FR" altLang="fr-FR" sz="2400" b="0" i="0" u="none" strike="noStrike" cap="none" normalizeH="0" baseline="0" dirty="0">
              <a:ln>
                <a:noFill/>
              </a:ln>
              <a:solidFill>
                <a:schemeClr val="tx1"/>
              </a:solidFill>
              <a:effectLst/>
              <a:latin typeface="Arial" panose="020B0604020202020204" pitchFamily="34" charset="0"/>
            </a:endParaRPr>
          </a:p>
          <a:p>
            <a:pPr marL="457200" indent="-457200" algn="just" defTabSz="914400" eaLnBrk="0" fontAlgn="base" hangingPunct="0">
              <a:spcBef>
                <a:spcPct val="0"/>
              </a:spcBef>
              <a:spcAft>
                <a:spcPct val="0"/>
              </a:spcAft>
              <a:buClrTx/>
              <a:buFont typeface="+mj-lt"/>
              <a:buAutoNum type="arabicPeriod"/>
            </a:pPr>
            <a:endParaRPr kumimoji="0" lang="fr-FR" altLang="fr-FR"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828156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BE6CFA-C926-2633-E3A2-E1C64A4AA154}"/>
              </a:ext>
            </a:extLst>
          </p:cNvPr>
          <p:cNvSpPr>
            <a:spLocks noGrp="1"/>
          </p:cNvSpPr>
          <p:nvPr>
            <p:ph type="title"/>
          </p:nvPr>
        </p:nvSpPr>
        <p:spPr>
          <a:xfrm>
            <a:off x="2075379" y="531643"/>
            <a:ext cx="9429233" cy="1280890"/>
          </a:xfrm>
        </p:spPr>
        <p:txBody>
          <a:bodyPr>
            <a:noAutofit/>
          </a:bodyPr>
          <a:lstStyle/>
          <a:p>
            <a:r>
              <a:rPr lang="fr-FR" sz="4900" b="1" dirty="0"/>
              <a:t>Interface utilisateur :</a:t>
            </a:r>
            <a:br>
              <a:rPr lang="fr-FR" sz="4950" b="1" dirty="0"/>
            </a:br>
            <a:endParaRPr lang="fr-FR" sz="4950" b="1" dirty="0"/>
          </a:p>
        </p:txBody>
      </p:sp>
      <p:sp>
        <p:nvSpPr>
          <p:cNvPr id="3" name="Espace réservé du contenu 2">
            <a:extLst>
              <a:ext uri="{FF2B5EF4-FFF2-40B4-BE49-F238E27FC236}">
                <a16:creationId xmlns:a16="http://schemas.microsoft.com/office/drawing/2014/main" id="{A2625F07-C9DF-A777-5462-992B14A8FEFE}"/>
              </a:ext>
            </a:extLst>
          </p:cNvPr>
          <p:cNvSpPr>
            <a:spLocks noGrp="1"/>
          </p:cNvSpPr>
          <p:nvPr>
            <p:ph idx="1"/>
          </p:nvPr>
        </p:nvSpPr>
        <p:spPr>
          <a:xfrm>
            <a:off x="2075380" y="2215793"/>
            <a:ext cx="9429232" cy="3777622"/>
          </a:xfrm>
        </p:spPr>
        <p:txBody>
          <a:bodyPr/>
          <a:lstStyle/>
          <a:p>
            <a:r>
              <a:rPr lang="fr-FR" sz="2800" dirty="0"/>
              <a:t>Menu latéral (sidebar)</a:t>
            </a:r>
          </a:p>
          <a:p>
            <a:r>
              <a:rPr lang="fr-FR" sz="2800" dirty="0"/>
              <a:t>Tableau de données interactif</a:t>
            </a:r>
          </a:p>
          <a:p>
            <a:r>
              <a:rPr lang="fr-FR" sz="2800" dirty="0"/>
              <a:t>Modals Bootstrap pour ajout / modification</a:t>
            </a:r>
          </a:p>
          <a:p>
            <a:r>
              <a:rPr lang="fr-FR" sz="2800" dirty="0"/>
              <a:t>Interface responsive et lisible</a:t>
            </a:r>
          </a:p>
          <a:p>
            <a:endParaRPr lang="fr-FR" dirty="0"/>
          </a:p>
        </p:txBody>
      </p:sp>
    </p:spTree>
    <p:extLst>
      <p:ext uri="{BB962C8B-B14F-4D97-AF65-F5344CB8AC3E}">
        <p14:creationId xmlns:p14="http://schemas.microsoft.com/office/powerpoint/2010/main" val="73343347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CC3AB3-8B73-1C70-16C6-9C0D62B2E00C}"/>
              </a:ext>
            </a:extLst>
          </p:cNvPr>
          <p:cNvSpPr>
            <a:spLocks noGrp="1"/>
          </p:cNvSpPr>
          <p:nvPr>
            <p:ph type="title"/>
          </p:nvPr>
        </p:nvSpPr>
        <p:spPr>
          <a:xfrm>
            <a:off x="2054831" y="534256"/>
            <a:ext cx="9449782" cy="1370744"/>
          </a:xfrm>
        </p:spPr>
        <p:txBody>
          <a:bodyPr/>
          <a:lstStyle/>
          <a:p>
            <a:r>
              <a:rPr lang="fr-FR" sz="4900" b="1" dirty="0"/>
              <a:t>Conclusion :</a:t>
            </a:r>
          </a:p>
        </p:txBody>
      </p:sp>
      <p:sp>
        <p:nvSpPr>
          <p:cNvPr id="3" name="Espace réservé du contenu 2">
            <a:extLst>
              <a:ext uri="{FF2B5EF4-FFF2-40B4-BE49-F238E27FC236}">
                <a16:creationId xmlns:a16="http://schemas.microsoft.com/office/drawing/2014/main" id="{19932EEB-A088-9825-CA43-94F65FEEC8C8}"/>
              </a:ext>
            </a:extLst>
          </p:cNvPr>
          <p:cNvSpPr>
            <a:spLocks noGrp="1"/>
          </p:cNvSpPr>
          <p:nvPr>
            <p:ph idx="1"/>
          </p:nvPr>
        </p:nvSpPr>
        <p:spPr>
          <a:xfrm>
            <a:off x="1880171" y="1982912"/>
            <a:ext cx="9624441" cy="3928310"/>
          </a:xfrm>
        </p:spPr>
        <p:txBody>
          <a:bodyPr/>
          <a:lstStyle/>
          <a:p>
            <a:r>
              <a:rPr lang="fr-FR" sz="2800" dirty="0"/>
              <a:t>Dans un contexte où les entreprises ont besoin d’outils simples et efficaces pour gérer leurs activités quotidiennes, ce projet vise à développer une application web de type Mini-ERP.</a:t>
            </a:r>
            <a:br>
              <a:rPr lang="fr-FR" sz="2800" dirty="0"/>
            </a:br>
            <a:r>
              <a:rPr lang="fr-FR" sz="2800" dirty="0"/>
              <a:t>Elle permet de centraliser la gestion des produits, clients, commandes et factures à travers une interface intuitive.</a:t>
            </a:r>
          </a:p>
        </p:txBody>
      </p:sp>
    </p:spTree>
    <p:extLst>
      <p:ext uri="{BB962C8B-B14F-4D97-AF65-F5344CB8AC3E}">
        <p14:creationId xmlns:p14="http://schemas.microsoft.com/office/powerpoint/2010/main" val="405384290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6DD4DE1-1A98-4A51-4D85-1978D19FA0C9}"/>
              </a:ext>
            </a:extLst>
          </p:cNvPr>
          <p:cNvSpPr>
            <a:spLocks noGrp="1"/>
          </p:cNvSpPr>
          <p:nvPr>
            <p:ph idx="1"/>
          </p:nvPr>
        </p:nvSpPr>
        <p:spPr>
          <a:xfrm>
            <a:off x="2044682" y="2544566"/>
            <a:ext cx="8915400" cy="3777622"/>
          </a:xfrm>
        </p:spPr>
        <p:txBody>
          <a:bodyPr>
            <a:normAutofit/>
          </a:bodyPr>
          <a:lstStyle/>
          <a:p>
            <a:pPr marL="0" indent="0" algn="ctr">
              <a:buNone/>
            </a:pPr>
            <a:r>
              <a:rPr lang="fr-FR" sz="7200" b="1" dirty="0">
                <a:solidFill>
                  <a:srgbClr val="C00000"/>
                </a:solidFill>
              </a:rPr>
              <a:t>Merci pour votre attention! </a:t>
            </a:r>
          </a:p>
        </p:txBody>
      </p:sp>
    </p:spTree>
    <p:extLst>
      <p:ext uri="{BB962C8B-B14F-4D97-AF65-F5344CB8AC3E}">
        <p14:creationId xmlns:p14="http://schemas.microsoft.com/office/powerpoint/2010/main" val="327893050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theme/theme1.xml><?xml version="1.0" encoding="utf-8"?>
<a:theme xmlns:a="http://schemas.openxmlformats.org/drawingml/2006/main" name="Brin">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1016</TotalTime>
  <Words>499</Words>
  <Application>Microsoft Office PowerPoint</Application>
  <PresentationFormat>Grand écran</PresentationFormat>
  <Paragraphs>76</Paragraphs>
  <Slides>26</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Arial</vt:lpstr>
      <vt:lpstr>Calibri</vt:lpstr>
      <vt:lpstr>Century Gothic</vt:lpstr>
      <vt:lpstr>Wingdings</vt:lpstr>
      <vt:lpstr>Wingdings 3</vt:lpstr>
      <vt:lpstr>Brin</vt:lpstr>
      <vt:lpstr>Projet Gestion Commerciale Mini ERP</vt:lpstr>
      <vt:lpstr>Plan :</vt:lpstr>
      <vt:lpstr>Introduction :</vt:lpstr>
      <vt:lpstr>Problématique : </vt:lpstr>
      <vt:lpstr>Objectifs : </vt:lpstr>
      <vt:lpstr>Technologies utilisées : </vt:lpstr>
      <vt:lpstr>Structure du projet :</vt:lpstr>
      <vt:lpstr>Pour se connecter a un compte existant:</vt:lpstr>
      <vt:lpstr>Pour créer un compte :</vt:lpstr>
      <vt:lpstr>Présentation PowerPoint</vt:lpstr>
      <vt:lpstr>Nav bar: </vt:lpstr>
      <vt:lpstr>Dashboard :</vt:lpstr>
      <vt:lpstr>Présentation PowerPoint</vt:lpstr>
      <vt:lpstr>Utilisateurs :</vt:lpstr>
      <vt:lpstr>Clients :</vt:lpstr>
      <vt:lpstr>Produits :</vt:lpstr>
      <vt:lpstr>Commandes :</vt:lpstr>
      <vt:lpstr>Factures :</vt:lpstr>
      <vt:lpstr>Pour ajouter :</vt:lpstr>
      <vt:lpstr>Aux cliques :</vt:lpstr>
      <vt:lpstr>Pour se déconnecter :</vt:lpstr>
      <vt:lpstr>Fonctionnalités principales :</vt:lpstr>
      <vt:lpstr>Fonctionnement technique :</vt:lpstr>
      <vt:lpstr>Interface utilisateur : </vt:lpstr>
      <vt:lpstr>Conclusion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Oumaima</dc:creator>
  <cp:lastModifiedBy>Oumaima</cp:lastModifiedBy>
  <cp:revision>54</cp:revision>
  <dcterms:created xsi:type="dcterms:W3CDTF">2026-01-05T19:30:13Z</dcterms:created>
  <dcterms:modified xsi:type="dcterms:W3CDTF">2026-01-06T12:26:59Z</dcterms:modified>
</cp:coreProperties>
</file>